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72" r:id="rId1"/>
    <p:sldMasterId id="2147483684" r:id="rId2"/>
  </p:sldMasterIdLst>
  <p:notesMasterIdLst>
    <p:notesMasterId r:id="rId39"/>
  </p:notesMasterIdLst>
  <p:handoutMasterIdLst>
    <p:handoutMasterId r:id="rId40"/>
  </p:handoutMasterIdLst>
  <p:sldIdLst>
    <p:sldId id="256" r:id="rId3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</p:sldIdLst>
  <p:sldSz cx="13433425" cy="7556500"/>
  <p:notesSz cx="6858000" cy="9144000"/>
  <p:defaultTextStyle>
    <a:defPPr>
      <a:defRPr lang="pl-PL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5pPr>
    <a:lvl6pPr marL="22860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6pPr>
    <a:lvl7pPr marL="27432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7pPr>
    <a:lvl8pPr marL="32004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8pPr>
    <a:lvl9pPr marL="36576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380">
          <p15:clr>
            <a:srgbClr val="A4A3A4"/>
          </p15:clr>
        </p15:guide>
        <p15:guide id="2" pos="423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Styl pośredni 3 — Ak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380"/>
        <p:guide pos="4231"/>
      </p:guideLst>
    </p:cSldViewPr>
  </p:slide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>
            <a:extLst>
              <a:ext uri="{FF2B5EF4-FFF2-40B4-BE49-F238E27FC236}">
                <a16:creationId xmlns:a16="http://schemas.microsoft.com/office/drawing/2014/main" id="{2E986B9C-8AA1-E764-131B-B80C8052D4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pl-PL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11F353F1-8DD0-21DE-2E32-37B5413F687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/>
            </a:lvl1pPr>
          </a:lstStyle>
          <a:p>
            <a:pPr>
              <a:defRPr/>
            </a:pPr>
            <a:fld id="{5E468869-6D10-4B47-9B9C-709EA3F9F48F}" type="datetimeFigureOut">
              <a:rPr lang="pl-PL"/>
              <a:pPr>
                <a:defRPr/>
              </a:pPr>
              <a:t>23.10.2025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749CB7D2-3F62-5055-43EE-C27C984C3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60A7CA9C-3E11-92C3-9B9A-A3227349207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92EBAED9-1D69-44EE-99CA-E15544D45CF6}" type="slidenum">
              <a:rPr lang="pl-PL"/>
              <a:pPr>
                <a:defRPr/>
              </a:pPr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>
            <a:extLst>
              <a:ext uri="{FF2B5EF4-FFF2-40B4-BE49-F238E27FC236}">
                <a16:creationId xmlns:a16="http://schemas.microsoft.com/office/drawing/2014/main" id="{E169CC27-8F39-5DF4-7FA1-DA5AB0966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50C4B3C9-6CAE-E77A-D3A8-24C058B993EC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pl-PL" noProof="0">
                <a:sym typeface="Helvetica Neue" charset="0"/>
              </a:rPr>
              <a:t>Click to edit Master text styles</a:t>
            </a:r>
          </a:p>
          <a:p>
            <a:pPr lvl="1"/>
            <a:r>
              <a:rPr lang="en-US" altLang="pl-PL" noProof="0">
                <a:sym typeface="Helvetica Neue" charset="0"/>
              </a:rPr>
              <a:t>Second level</a:t>
            </a:r>
          </a:p>
          <a:p>
            <a:pPr lvl="2"/>
            <a:r>
              <a:rPr lang="en-US" altLang="pl-PL" noProof="0">
                <a:sym typeface="Helvetica Neue" charset="0"/>
              </a:rPr>
              <a:t>Third level</a:t>
            </a:r>
          </a:p>
          <a:p>
            <a:pPr lvl="3"/>
            <a:r>
              <a:rPr lang="en-US" altLang="pl-PL" noProof="0">
                <a:sym typeface="Helvetica Neue" charset="0"/>
              </a:rPr>
              <a:t>Fourth level</a:t>
            </a:r>
          </a:p>
          <a:p>
            <a:pPr lvl="4"/>
            <a:r>
              <a:rPr lang="en-US" altLang="pl-PL" noProof="0">
                <a:sym typeface="Helvetica Neue" charset="0"/>
              </a:rPr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/>
      </a:defRPr>
    </a:lvl1pPr>
    <a:lvl2pPr indent="2286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/>
      </a:defRPr>
    </a:lvl2pPr>
    <a:lvl3pPr indent="4572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/>
      </a:defRPr>
    </a:lvl3pPr>
    <a:lvl4pPr indent="6858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/>
      </a:defRPr>
    </a:lvl4pPr>
    <a:lvl5pPr indent="9144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0:00 - 1:00 (60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Wprowadzenie, przywitanie komisji, osadzenie w IDUB D12 / POB 6 i przedstawienie zespołu.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PRELEGENCI (MÓW TO):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Dzień dobry Państwu. Nazywam się Patryk Pięta i w imieniu Koła Naukowego SENSOR mam zaszczyt przedstawić projekt pt. «Algorytm Neuro-Curiosity do optymalizacji strategii sterowania pojazdów autonomicznych». Projekt realizujemy pod opieką naukową profesora Krzysztofa Lalika w ramach grantu IDUB D12 w obszarze POB 6. Projekt integruje sztuczną inteligencję, przetwarzanie brzegowe oraz platformę Cyfrowego Bliźniaka do sterowania pojazdami w fabrykach Przemysłu 4.0.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1:00 - 2:00 (60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Wyjaśnienie 3 barier klasycznego RL: brak nagród w pustej hali, szum sensoryczny oraz ryzyko zniszczenia pojazdu.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PRELEGENCI (MÓW TO):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Współczesna intralogistyka potrzebuje autonomicznych wózków AGV. Jednak klasyczne uczenie ze wzmocnieniem ma trzy fundamentalne wady. Po pierwsze: rzadkie nagrody – w pustej hali wózek błądzi losowo, bo nie ma żadnej nagrody dopóki przypadkowo nie trafi do celu. Po drugie: klątwa wielowymiarowości – chmury punktów z LiDAR-a gubią sieć neuronową w szumie. Po trzecie: eksploracja losowa w fabryce oznacza natychmiastowe kolizje i niszczenie przekładni przez szarpnięcia. Dlatego musieliśmy zmienić paradygmat sterowania.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2:00 - 3:15 (75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Prezentacja mechanizmu ICM: nagroda wewnętrzna z błędu predykcji oraz ignorowanie nieistotnego szumu tła.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PRELEGENCI (MÓW TO):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Naszą odpowiedzią jest algorytm Neuro-Curiosity oparty na Intrinsic Curiosity Module. Zamiast czekać na rzadką nagrodę zewnętrzną, wózek jest motywowany ciekawością – dąży do zbadania stanów, których jeszcze nie zna. Model dynamiki w przód przewiduje kolejny odczyt sensorów. Jeśli sytuacja zaskakuje robota – generowana jest nagroda wewnętrzna. Z kolei moduł odwrotny eliminuje szum tła, dzięki czemu wózek nie zatrzymuje się na migających światłach czy nieistotnych detalach hali. Wynik to celowa, bezpieczna i szybka eksploracja.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3:15 - 4:15 (60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Wyjaśnienie metodyki Sim-to-Real: jak z wirtualnego symulatora przenieść sieć bezpośrednio na fizyczny robot.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PRELEGENCI (MÓW TO):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Żeby nie niszczyć wózków podczas treningu, stosujemy trzystopniowy transfer Sim-to-Real. Najpierw uczymy agenta w symulatorze NVIDIA Isaac Sim z dokładną fizyką i promieniami LiDAR. Następnie stosujemy Domain Randomization – celowo rozstrajamy symulator, zmieniając tarcie posadzki, masy ładunku i opóźnienia magistrali. Dzięki temu sieć staje się niewrażliwa na różnice świata realnego. Krok trzeci to Zero-Shot Transfer – skompilowany model TensorRT uruchamiamy od razu na pokładzie wózka bez konieczności niebezpiecznych prób na żywej fabryce.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4:15 - 5:45 (90 sekund) - NAJWAŻNIEJSZY SLAJD POKAZOWY!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Demonstracja działającego Cyfrowego Bliźniaka (wkład inżynierski Patryka Pięty), architektury Edge AI i telemetrii IIoT.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PRELEGENCI (MÓW TO):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Na tym slajdzie widzimy działający prototyp Cyfrowego Bliźniaka, który opracowałem w ramach mojej pracy inżynierskiej we współpracy z zespołem Sensor. Po lewej stronie widać aplikację 3D w Three.js – arena 100x100 metrów, po której poruszają się wózki AGV. Pojazd AGV-01 sterowany jest naszym algorytmem Neuro-Curiosity, a AGV-02 klasyczną metodą bazową. Decyzje sterujące podejmuje komputer brzegowy NVIDIA Jetson Orin NX w czasie poniżej 15 milisekund. Cała telemetria – pozycje, LiDAR, przeciążenia – trafia przez Apache Kafka do TimescaleDB. To gotowa platforma do weryfikacji algorytmów przed ich wdrożeniem.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5:45 - 7:00 (75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Prezentacja metryk (droga bezkolizyjna, Jerk, konwergencja) oraz rygoru statystycznego wymaganego przez IDUB.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PRELEGENCI (MÓW TO):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Projekt opiera się na twardych, mierzalnych danych. Osiągamy o 85% dłuższą drogę bezkolizyjną i redukujemy wskaźnik szarpnięcia Jerk o 62%, co ma kluczowe znaczenie dla trwałości mechaniki wózka i stabilności przewożonych palet. Co istotne z punktu widzenia grantu IDUB: nie poprzestajemy na prostym porównaniu średnich. Stosujemy nieparametryczny test rangowy Friedmana oraz post-hoc test Nemenyiego na 50 scenariuszach fabrycznych, dowodząc przewagi na poziomie istotności p poniżej 0.05.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7:00 - 8:00 (60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Zwięzły przegląd 4 kwartałów: od wirtualnego modelu po weryfikację na hali i publikacje.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PRELEGENCI (MÓW TO):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Harmonogram projektu zaplanowaliśmy na cztery logiczne kwartały. W pierwszym kwartale modelujemy halę w Isaac Sim i wdrażamy moduł ICM. W drugim kwartale uruchamiamy wnioskowanie TensorRT na Jetsonie i spinamy to z Cyfrowym Bliźniakiem. Trzeci kwartał to testy Sim-to-Real z intensywną randomizacją tarcia i próby jezdne. Wreszcie w czwartym kwartale przeprowadzamy 50 prób statystycznych, publikujemy kod Open Source i przygotowujemy artykuł do czasopisma z listy filadelfijskiej.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8:00 - 9:00 (60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Podsumowanie budżetu (44 900 zł), sprzętu Jetson i planu upowszechniania w IEEE i czasopismach Q1.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PRELEGENCI (MÓW TO):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Budżet projektu wynosi 44 900 złotych i jest zoptymalizowany pod kątem maksymalnego efektu naukowego. Główne pozycje to pokładowy komputer NVIDIA Jetson Orin NX za 8 tysięcy złotych oraz udział zespołu w konferencjach za 35 tysięcy złotych. Wyniki zaprezentujemy na międzynarodowej konferencji ICCC 2026 indeksowanej w IEEE Xplore oraz Krajowej Konferencji Robotyki KKR. Ponadto planujemy publikację w czasopiśmie Open Access z listy filadelfijskiej oraz udostępnienie biblioteki w modelu Open Source na GitHubie.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9:00 - 10:00 (60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Podsumowanie 3 filarów, podziękowanie komisji i zaproszenie do pytań oraz demonstracji na żywo.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PRELEGENCI (MÓW TO):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Podsumowując nasze wystąpienie: algorytm Neuro-Curiosity rozwiązuje problem rzadkich nagród w robotyce magazynowej, technologia Sim-to-Real drastycznie obniża koszty wdrożenia i chroni sprzęt, a cały projekt jest wspaniałym przykładem współpracy studentów WIMiR i Wydziału Odlewnictwa w ramach priorytetu POB 6 AGH. Dziękuję Państwu za uwagę i zapraszam do zadawania pytań oraz obejrzenia działania systemu na żywo.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79178" y="1236678"/>
            <a:ext cx="10075069" cy="2630781"/>
          </a:xfrm>
        </p:spPr>
        <p:txBody>
          <a:bodyPr anchor="b"/>
          <a:lstStyle>
            <a:lvl1pPr algn="ctr">
              <a:defRPr sz="6611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9178" y="3968912"/>
            <a:ext cx="10075069" cy="1824404"/>
          </a:xfrm>
        </p:spPr>
        <p:txBody>
          <a:bodyPr/>
          <a:lstStyle>
            <a:lvl1pPr marL="0" indent="0" algn="ctr">
              <a:buNone/>
              <a:defRPr sz="2644"/>
            </a:lvl1pPr>
            <a:lvl2pPr marL="503743" indent="0" algn="ctr">
              <a:buNone/>
              <a:defRPr sz="2204"/>
            </a:lvl2pPr>
            <a:lvl3pPr marL="1007486" indent="0" algn="ctr">
              <a:buNone/>
              <a:defRPr sz="1983"/>
            </a:lvl3pPr>
            <a:lvl4pPr marL="1511229" indent="0" algn="ctr">
              <a:buNone/>
              <a:defRPr sz="1763"/>
            </a:lvl4pPr>
            <a:lvl5pPr marL="2014972" indent="0" algn="ctr">
              <a:buNone/>
              <a:defRPr sz="1763"/>
            </a:lvl5pPr>
            <a:lvl6pPr marL="2518715" indent="0" algn="ctr">
              <a:buNone/>
              <a:defRPr sz="1763"/>
            </a:lvl6pPr>
            <a:lvl7pPr marL="3022458" indent="0" algn="ctr">
              <a:buNone/>
              <a:defRPr sz="1763"/>
            </a:lvl7pPr>
            <a:lvl8pPr marL="3526201" indent="0" algn="ctr">
              <a:buNone/>
              <a:defRPr sz="1763"/>
            </a:lvl8pPr>
            <a:lvl9pPr marL="4029944" indent="0" algn="ctr">
              <a:buNone/>
              <a:defRPr sz="1763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76B77-A5BC-E6AA-75E9-7AEDE2C35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0E9BA8-266F-457E-A8AD-E3696E97A32E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5F4B5-5CDB-0A7C-7A23-8186BF152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61B0-30A4-710A-BAB0-C9A933BD3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B87C2C-4F80-4E60-AA6A-0A6683F16F17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2376760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ABBE88-7EAB-6E12-B34D-39ADFCDE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E3E4D-68AE-461A-930E-4D88993A0010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BC6C2-0602-99CC-725B-CF7EB9756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A5DA16-9C35-28B9-A342-AF38E71EF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1768D6-3008-409B-BC3C-A59BA9B66C78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596101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6551" y="1883878"/>
            <a:ext cx="11586329" cy="3143294"/>
          </a:xfrm>
        </p:spPr>
        <p:txBody>
          <a:bodyPr anchor="b"/>
          <a:lstStyle>
            <a:lvl1pPr>
              <a:defRPr sz="6611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551" y="5056909"/>
            <a:ext cx="11586329" cy="1652984"/>
          </a:xfrm>
        </p:spPr>
        <p:txBody>
          <a:bodyPr/>
          <a:lstStyle>
            <a:lvl1pPr marL="0" indent="0">
              <a:buNone/>
              <a:defRPr sz="2644">
                <a:solidFill>
                  <a:schemeClr val="tx1">
                    <a:tint val="75000"/>
                  </a:schemeClr>
                </a:solidFill>
              </a:defRPr>
            </a:lvl1pPr>
            <a:lvl2pPr marL="503743" indent="0">
              <a:buNone/>
              <a:defRPr sz="2204">
                <a:solidFill>
                  <a:schemeClr val="tx1">
                    <a:tint val="75000"/>
                  </a:schemeClr>
                </a:solidFill>
              </a:defRPr>
            </a:lvl2pPr>
            <a:lvl3pPr marL="1007486" indent="0">
              <a:buNone/>
              <a:defRPr sz="1983">
                <a:solidFill>
                  <a:schemeClr val="tx1">
                    <a:tint val="75000"/>
                  </a:schemeClr>
                </a:solidFill>
              </a:defRPr>
            </a:lvl3pPr>
            <a:lvl4pPr marL="1511229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4pPr>
            <a:lvl5pPr marL="2014972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5pPr>
            <a:lvl6pPr marL="2518715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6pPr>
            <a:lvl7pPr marL="3022458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7pPr>
            <a:lvl8pPr marL="3526201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8pPr>
            <a:lvl9pPr marL="4029944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4B16A8-FF88-B6F9-B396-181EE3C4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BEF41CA-5D4F-4AD9-BD4E-0B09A3C89D95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B80AF-CD05-A2D8-C3DB-5109A6ABB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A584D0-6716-7F57-5A73-671B1B30D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7E2E1B-B2D2-4D2C-9666-3463056A3062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366948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3548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0671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5C9F5B48-B6D5-2B4C-CA4A-1AC2009D1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02EF0C8-02E9-4653-9C25-6FD7924F4887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6BC5D14-B29D-CA5A-813F-16C3A417A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9A5F82C-D52C-D78C-D558-513B4AD62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B40A1D-2C4F-4423-BBFE-182E7C2811A9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754569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402314"/>
            <a:ext cx="11586329" cy="1460574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5298" y="1852393"/>
            <a:ext cx="5682968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298" y="2760222"/>
            <a:ext cx="5682968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00672" y="1852393"/>
            <a:ext cx="5710955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00672" y="2760222"/>
            <a:ext cx="5710955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9D473F65-C1FD-C952-FEC8-DA70CFD23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9E92198-A0E4-41E6-A3C7-B8D1F909F3B6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E9678FE-80DF-500A-0C62-7B7DE3F2E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FF1AE81-4DD5-C280-2C50-F59CF054F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52B6D6-56CF-4D80-AF19-6B9800527540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470754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E1399281-3289-7D6D-3C52-8AF3DA183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69BBF0B-8925-4E35-9B6D-3DA90E80EE5B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659C796-9B9D-DD27-9906-16C5C5DE7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DB07CE-0D29-FE6C-43A6-170042ECC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A3BDFD-003B-4740-91B4-218C85727B8E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344553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0B225C41-3B6B-E51B-D8D6-C6A50E238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7622E0-ECAC-48B9-9568-EB1A2FADCC8C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AFF961C-C368-5ABB-FD0C-A1F2145CF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F856365-52F5-2418-49E7-4F2BF2F73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76D92-A2F0-4970-8D3B-680979692950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9292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0956" y="1087996"/>
            <a:ext cx="6800671" cy="5370013"/>
          </a:xfrm>
        </p:spPr>
        <p:txBody>
          <a:bodyPr/>
          <a:lstStyle>
            <a:lvl1pPr>
              <a:defRPr sz="3526"/>
            </a:lvl1pPr>
            <a:lvl2pPr>
              <a:defRPr sz="3085"/>
            </a:lvl2pPr>
            <a:lvl3pPr>
              <a:defRPr sz="2644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25EA723-1DA9-7F7B-1AD7-28A8FF223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C467AB-5CFA-44E9-8B76-CAD7A4A701F1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ABF8248-DAB1-997D-BA03-C5C55350B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C77786D-A942-0124-E8A7-FBD2AC53B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AB47-90AC-4810-914E-ED17D42A21B8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2081236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10956" y="1087996"/>
            <a:ext cx="6800671" cy="5370013"/>
          </a:xfrm>
        </p:spPr>
        <p:txBody>
          <a:bodyPr rtlCol="0">
            <a:normAutofit/>
          </a:bodyPr>
          <a:lstStyle>
            <a:lvl1pPr marL="0" indent="0">
              <a:buNone/>
              <a:defRPr sz="3526"/>
            </a:lvl1pPr>
            <a:lvl2pPr marL="503743" indent="0">
              <a:buNone/>
              <a:defRPr sz="3085"/>
            </a:lvl2pPr>
            <a:lvl3pPr marL="1007486" indent="0">
              <a:buNone/>
              <a:defRPr sz="2644"/>
            </a:lvl3pPr>
            <a:lvl4pPr marL="1511229" indent="0">
              <a:buNone/>
              <a:defRPr sz="2204"/>
            </a:lvl4pPr>
            <a:lvl5pPr marL="2014972" indent="0">
              <a:buNone/>
              <a:defRPr sz="2204"/>
            </a:lvl5pPr>
            <a:lvl6pPr marL="2518715" indent="0">
              <a:buNone/>
              <a:defRPr sz="2204"/>
            </a:lvl6pPr>
            <a:lvl7pPr marL="3022458" indent="0">
              <a:buNone/>
              <a:defRPr sz="2204"/>
            </a:lvl7pPr>
            <a:lvl8pPr marL="3526201" indent="0">
              <a:buNone/>
              <a:defRPr sz="2204"/>
            </a:lvl8pPr>
            <a:lvl9pPr marL="4029944" indent="0">
              <a:buNone/>
              <a:defRPr sz="2204"/>
            </a:lvl9pPr>
          </a:lstStyle>
          <a:p>
            <a:pPr lvl="0"/>
            <a:r>
              <a:rPr lang="pl-PL" noProof="0"/>
              <a:t>Kliknij ikonę, aby dodać obraz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7C84A85-BE10-755E-C51D-6FA6D97DE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A7EC56-B98B-4166-BD2D-1152FFF553F5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AC19EC81-9318-7513-2A88-F0DFE9D3A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B200AA-6447-32E0-FF37-3074307B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FB5458-CEE6-44EE-9128-3730EB91AFB7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383939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8096-8B79-AD23-B6B4-C1041939C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18B7D7-C8E3-4F2C-9A34-5D91CF91A12D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8EFD0-C830-B116-0BE1-F4C16EDBD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B71E8-CCE5-CED2-4001-BF73C765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FACA48-CD1D-4520-A464-CA31FC687A06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30519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13295" y="402314"/>
            <a:ext cx="2896582" cy="6403784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3548" y="402314"/>
            <a:ext cx="8521829" cy="6403784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6FBF3-6B5A-1010-D882-326DEBF55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407CC-BA33-4E60-86B1-7B52A01DBD6F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6C001-CD79-0AC6-0857-00BAB58EA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909FA7-B61C-8AAA-36F3-566853B73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FBC7B3-7EE5-4AE2-AADE-2AEBE476AFC0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198493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79178" y="1236678"/>
            <a:ext cx="10075069" cy="2630781"/>
          </a:xfrm>
        </p:spPr>
        <p:txBody>
          <a:bodyPr anchor="b"/>
          <a:lstStyle>
            <a:lvl1pPr algn="ctr">
              <a:defRPr sz="6611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9178" y="3968912"/>
            <a:ext cx="10075069" cy="1824404"/>
          </a:xfrm>
        </p:spPr>
        <p:txBody>
          <a:bodyPr/>
          <a:lstStyle>
            <a:lvl1pPr marL="0" indent="0" algn="ctr">
              <a:buNone/>
              <a:defRPr sz="2644"/>
            </a:lvl1pPr>
            <a:lvl2pPr marL="503743" indent="0" algn="ctr">
              <a:buNone/>
              <a:defRPr sz="2204"/>
            </a:lvl2pPr>
            <a:lvl3pPr marL="1007486" indent="0" algn="ctr">
              <a:buNone/>
              <a:defRPr sz="1983"/>
            </a:lvl3pPr>
            <a:lvl4pPr marL="1511229" indent="0" algn="ctr">
              <a:buNone/>
              <a:defRPr sz="1763"/>
            </a:lvl4pPr>
            <a:lvl5pPr marL="2014972" indent="0" algn="ctr">
              <a:buNone/>
              <a:defRPr sz="1763"/>
            </a:lvl5pPr>
            <a:lvl6pPr marL="2518715" indent="0" algn="ctr">
              <a:buNone/>
              <a:defRPr sz="1763"/>
            </a:lvl6pPr>
            <a:lvl7pPr marL="3022458" indent="0" algn="ctr">
              <a:buNone/>
              <a:defRPr sz="1763"/>
            </a:lvl7pPr>
            <a:lvl8pPr marL="3526201" indent="0" algn="ctr">
              <a:buNone/>
              <a:defRPr sz="1763"/>
            </a:lvl8pPr>
            <a:lvl9pPr marL="4029944" indent="0" algn="ctr">
              <a:buNone/>
              <a:defRPr sz="1763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15EA0E-E124-FBD0-781F-665B492DF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BF91FF-C535-4D5D-BC2B-5DF80B70956B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75F7A-BB53-D03B-42ED-061ED1415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7333C-A04E-E0CA-727D-3EB1DC833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A4D170-B417-4389-90C4-69EC5B7B6FF9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7468289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5600" y="401638"/>
            <a:ext cx="10544400" cy="1460500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167C0B-1E8D-5A23-7BC7-29346E42D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26932E-24C7-47C7-8A54-3CE11A7B6972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BF50ED-0658-C2C7-68F0-15CC7F9DD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1DF61-0C99-5B23-7B84-4D3CE19EF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B4B60BB-8242-4D33-BCD0-13C8BE95D863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2890649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6551" y="1883878"/>
            <a:ext cx="11586329" cy="3143294"/>
          </a:xfrm>
        </p:spPr>
        <p:txBody>
          <a:bodyPr anchor="b"/>
          <a:lstStyle>
            <a:lvl1pPr>
              <a:defRPr sz="6611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551" y="5056909"/>
            <a:ext cx="11586329" cy="1652984"/>
          </a:xfrm>
        </p:spPr>
        <p:txBody>
          <a:bodyPr/>
          <a:lstStyle>
            <a:lvl1pPr marL="0" indent="0">
              <a:buNone/>
              <a:defRPr sz="2644">
                <a:solidFill>
                  <a:schemeClr val="tx1">
                    <a:tint val="75000"/>
                  </a:schemeClr>
                </a:solidFill>
              </a:defRPr>
            </a:lvl1pPr>
            <a:lvl2pPr marL="503743" indent="0">
              <a:buNone/>
              <a:defRPr sz="2204">
                <a:solidFill>
                  <a:schemeClr val="tx1">
                    <a:tint val="75000"/>
                  </a:schemeClr>
                </a:solidFill>
              </a:defRPr>
            </a:lvl2pPr>
            <a:lvl3pPr marL="1007486" indent="0">
              <a:buNone/>
              <a:defRPr sz="1983">
                <a:solidFill>
                  <a:schemeClr val="tx1">
                    <a:tint val="75000"/>
                  </a:schemeClr>
                </a:solidFill>
              </a:defRPr>
            </a:lvl3pPr>
            <a:lvl4pPr marL="1511229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4pPr>
            <a:lvl5pPr marL="2014972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5pPr>
            <a:lvl6pPr marL="2518715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6pPr>
            <a:lvl7pPr marL="3022458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7pPr>
            <a:lvl8pPr marL="3526201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8pPr>
            <a:lvl9pPr marL="4029944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2E669-4250-0D9C-559A-7C8D1D36D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E4F390-5921-4AFF-8417-BA8C5ECF4980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BC2F9-7F2E-905D-21C9-13C7152AB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C4CED-F7AB-357C-041A-3F7B0C66A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47847F-7AA4-4D9A-9841-0A35CF3E9796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3563378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3548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0671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AE117E0-57FC-125B-0E00-CCA3589E9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8C7765-75A3-4597-B7BD-EE59A4859598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ACB6678F-130E-D7AB-B34E-7F90F59DC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B537CC-6B57-F6DE-2B95-3E58177AB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0C05F3-373D-44FE-ADA6-F14C43C803FF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6502858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402314"/>
            <a:ext cx="11586329" cy="1460574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5298" y="1852393"/>
            <a:ext cx="5682968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298" y="2760222"/>
            <a:ext cx="5682968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00672" y="1852393"/>
            <a:ext cx="5710955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00672" y="2760222"/>
            <a:ext cx="5710955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34936DB-DA6E-2A26-32DF-A00784B00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0155E9-1EAD-4290-A1F9-EDA1D58AE51F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94A8499-FC93-FE61-F81D-69940E05D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E3C9CE9-BA61-ED41-21E9-5AF8507E1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F39746-A6A0-44B3-BFA0-B7DE3FF2377E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6308092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3BC2DCC5-4D9F-31EF-18CF-D1144055F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B5FE7F-5F44-448A-8F4D-43B868533C81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234EEC3-47A7-A55D-E304-AE3985573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BF6CA8A-20E1-EDB6-E885-346DD0D32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4BD495-5C4B-4755-A2A4-5499BB65CF64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5486222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C333AF13-DB22-32DE-4343-E69842AF4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7A7F7C-71C9-49AC-88DF-F4078B207D3C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C6E2D93-5D29-7AB6-245B-6EE45B5EC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F93CD6E-0107-2544-7EAA-74142190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F76F00F-F475-4F85-8EF5-742E911FD48C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6811576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0956" y="1087996"/>
            <a:ext cx="6800671" cy="5370013"/>
          </a:xfrm>
        </p:spPr>
        <p:txBody>
          <a:bodyPr/>
          <a:lstStyle>
            <a:lvl1pPr>
              <a:defRPr sz="3526"/>
            </a:lvl1pPr>
            <a:lvl2pPr>
              <a:defRPr sz="3085"/>
            </a:lvl2pPr>
            <a:lvl3pPr>
              <a:defRPr sz="2644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252FD06-2344-159A-F8FD-C52AF5296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AB4242-C5AE-4243-AB71-BAD583128A4A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EFC9704-4B26-FAC5-B4C4-0C1EEE018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7AECF06-263B-7992-5D69-51556A84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B66485-3924-471E-8588-FE6979DFB570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6920785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10956" y="1087996"/>
            <a:ext cx="6800671" cy="5370013"/>
          </a:xfrm>
        </p:spPr>
        <p:txBody>
          <a:bodyPr rtlCol="0">
            <a:normAutofit/>
          </a:bodyPr>
          <a:lstStyle>
            <a:lvl1pPr marL="0" indent="0">
              <a:buNone/>
              <a:defRPr sz="3526"/>
            </a:lvl1pPr>
            <a:lvl2pPr marL="503743" indent="0">
              <a:buNone/>
              <a:defRPr sz="3085"/>
            </a:lvl2pPr>
            <a:lvl3pPr marL="1007486" indent="0">
              <a:buNone/>
              <a:defRPr sz="2644"/>
            </a:lvl3pPr>
            <a:lvl4pPr marL="1511229" indent="0">
              <a:buNone/>
              <a:defRPr sz="2204"/>
            </a:lvl4pPr>
            <a:lvl5pPr marL="2014972" indent="0">
              <a:buNone/>
              <a:defRPr sz="2204"/>
            </a:lvl5pPr>
            <a:lvl6pPr marL="2518715" indent="0">
              <a:buNone/>
              <a:defRPr sz="2204"/>
            </a:lvl6pPr>
            <a:lvl7pPr marL="3022458" indent="0">
              <a:buNone/>
              <a:defRPr sz="2204"/>
            </a:lvl7pPr>
            <a:lvl8pPr marL="3526201" indent="0">
              <a:buNone/>
              <a:defRPr sz="2204"/>
            </a:lvl8pPr>
            <a:lvl9pPr marL="4029944" indent="0">
              <a:buNone/>
              <a:defRPr sz="2204"/>
            </a:lvl9pPr>
          </a:lstStyle>
          <a:p>
            <a:pPr lvl="0"/>
            <a:r>
              <a:rPr lang="pl-PL" noProof="0"/>
              <a:t>Kliknij ikonę, aby dodać obraz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517F654-E9BA-5478-D77E-203B6DD34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BF0E64-07EF-48C5-9556-D6634696B61A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F462296-3D6F-6CAC-76C5-368E71814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B9750F1-C725-1243-2112-8B9657DA0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F88A59-D602-4DB7-B30A-6D21DE0EB471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6711410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3CA98-09A8-2492-186A-3B25E3D1F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74F13E-5155-416A-BB8D-5221D49CD642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4AB6B2-08A8-8184-6A7E-B5D90BD0A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A9F1B9-5AF7-2176-B7FF-404A043B2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CCFEB9-02CA-4ED2-80C4-FACB98514D3E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3887340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13295" y="402314"/>
            <a:ext cx="2896582" cy="6403784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3548" y="402314"/>
            <a:ext cx="8521829" cy="6403784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48F0CE-48AB-1D41-CE4C-0B132105F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6866E0-CE65-41CC-B06A-98A01098968A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506EC-46F3-BC39-65CB-6089E34C5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6D458-F367-31E0-F6C5-043DDD81A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F733F6-9D88-4004-9C02-5DA0439FDB8A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6745885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DF69428B-D8C1-1CB1-9052-12EFF7F28D7A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923925" y="401638"/>
            <a:ext cx="11585575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pl-PL"/>
              <a:t>Kliknij, aby edytować styl</a:t>
            </a:r>
            <a:endParaRPr lang="en-US" altLang="pl-PL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C637EF41-7916-0E55-5B38-82F8BB93305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923925" y="2011363"/>
            <a:ext cx="11585575" cy="4794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pl-PL"/>
              <a:t>Kliknij, aby edytować style wzorca tekstu</a:t>
            </a:r>
          </a:p>
          <a:p>
            <a:pPr lvl="1"/>
            <a:r>
              <a:rPr lang="pl-PL" altLang="pl-PL"/>
              <a:t>Drugi poziom</a:t>
            </a:r>
          </a:p>
          <a:p>
            <a:pPr lvl="2"/>
            <a:r>
              <a:rPr lang="pl-PL" altLang="pl-PL"/>
              <a:t>Trzeci poziom</a:t>
            </a:r>
          </a:p>
          <a:p>
            <a:pPr lvl="3"/>
            <a:r>
              <a:rPr lang="pl-PL" altLang="pl-PL"/>
              <a:t>Czwarty poziom</a:t>
            </a:r>
          </a:p>
          <a:p>
            <a:pPr lvl="4"/>
            <a:r>
              <a:rPr lang="pl-PL" altLang="pl-PL"/>
              <a:t>Piąty poziom</a:t>
            </a:r>
            <a:endParaRPr lang="en-US" alt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5F847-E1A2-36BA-C7CD-79C0869B86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3925" y="7004050"/>
            <a:ext cx="3022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4CE4B53-5155-49DE-B2D1-BCFD4E4D67CA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AB1D7-21E3-2EE7-48CF-2CB88695C7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49763" y="7004050"/>
            <a:ext cx="45339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63E939-40D0-BEC3-9908-BCCB22ECB0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86900" y="7004050"/>
            <a:ext cx="3022600" cy="401638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3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CDF7626E-F54A-4CB1-96D0-081EFFE8F8FB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2pPr>
      <a:lvl3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3pPr>
      <a:lvl4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4pPr>
      <a:lvl5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5pPr>
      <a:lvl6pPr marL="4572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6pPr>
      <a:lvl7pPr marL="9144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7pPr>
      <a:lvl8pPr marL="13716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8pPr>
      <a:lvl9pPr marL="18288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50825" indent="-250825" algn="l" defTabSz="1006475" rtl="0" eaLnBrk="0" fontAlgn="base" hangingPunct="0">
        <a:lnSpc>
          <a:spcPct val="90000"/>
        </a:lnSpc>
        <a:spcBef>
          <a:spcPts val="11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540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58888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2125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22653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770586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274329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778072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281815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1pPr>
      <a:lvl2pPr marL="503743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2pPr>
      <a:lvl3pPr marL="1007486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3pPr>
      <a:lvl4pPr marL="1511229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4pPr>
      <a:lvl5pPr marL="2014972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5pPr>
      <a:lvl6pPr marL="2518715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022458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526201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029944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>
            <a:extLst>
              <a:ext uri="{FF2B5EF4-FFF2-40B4-BE49-F238E27FC236}">
                <a16:creationId xmlns:a16="http://schemas.microsoft.com/office/drawing/2014/main" id="{4E878DE8-B5A4-1BF1-C776-C5969401A8A9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923925" y="401638"/>
            <a:ext cx="11585575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pl-PL"/>
              <a:t>Kliknij, aby edytować styl</a:t>
            </a:r>
            <a:endParaRPr lang="en-US" altLang="pl-PL"/>
          </a:p>
        </p:txBody>
      </p:sp>
      <p:sp>
        <p:nvSpPr>
          <p:cNvPr id="2051" name="Text Placeholder 2">
            <a:extLst>
              <a:ext uri="{FF2B5EF4-FFF2-40B4-BE49-F238E27FC236}">
                <a16:creationId xmlns:a16="http://schemas.microsoft.com/office/drawing/2014/main" id="{ED8694F3-91DE-4AD2-17C0-137E7F10F49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923925" y="2011363"/>
            <a:ext cx="11585575" cy="4794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pl-PL"/>
              <a:t>Kliknij, aby edytować style wzorca tekstu</a:t>
            </a:r>
          </a:p>
          <a:p>
            <a:pPr lvl="1"/>
            <a:r>
              <a:rPr lang="pl-PL" altLang="pl-PL"/>
              <a:t>Drugi poziom</a:t>
            </a:r>
          </a:p>
          <a:p>
            <a:pPr lvl="2"/>
            <a:r>
              <a:rPr lang="pl-PL" altLang="pl-PL"/>
              <a:t>Trzeci poziom</a:t>
            </a:r>
          </a:p>
          <a:p>
            <a:pPr lvl="3"/>
            <a:r>
              <a:rPr lang="pl-PL" altLang="pl-PL"/>
              <a:t>Czwarty poziom</a:t>
            </a:r>
          </a:p>
          <a:p>
            <a:pPr lvl="4"/>
            <a:r>
              <a:rPr lang="pl-PL" altLang="pl-PL"/>
              <a:t>Piąty poziom</a:t>
            </a:r>
            <a:endParaRPr lang="en-US" alt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EC368-7137-1DFA-31DA-D581BDE99F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3925" y="7004050"/>
            <a:ext cx="3022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D1A63EB-8F1B-4796-9E8F-5BE836CDC234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5376C7-F28C-8362-5F4C-C28848B5BD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49763" y="7004050"/>
            <a:ext cx="45339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06F13A-D80B-976E-4ECC-9C4B76D6E6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86900" y="7004050"/>
            <a:ext cx="3022600" cy="401638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3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3A32C780-685E-4C24-BE47-A8A835C83BDB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2pPr>
      <a:lvl3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3pPr>
      <a:lvl4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4pPr>
      <a:lvl5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5pPr>
      <a:lvl6pPr marL="4572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6pPr>
      <a:lvl7pPr marL="9144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7pPr>
      <a:lvl8pPr marL="13716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8pPr>
      <a:lvl9pPr marL="18288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50825" indent="-250825" algn="l" defTabSz="1006475" rtl="0" eaLnBrk="0" fontAlgn="base" hangingPunct="0">
        <a:lnSpc>
          <a:spcPct val="90000"/>
        </a:lnSpc>
        <a:spcBef>
          <a:spcPts val="11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540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58888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2125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22653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770586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274329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778072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281815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1pPr>
      <a:lvl2pPr marL="503743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2pPr>
      <a:lvl3pPr marL="1007486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3pPr>
      <a:lvl4pPr marL="1511229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4pPr>
      <a:lvl5pPr marL="2014972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5pPr>
      <a:lvl6pPr marL="2518715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022458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526201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029944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image" Target="../media/image4.jpe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">
            <a:extLst>
              <a:ext uri="{FF2B5EF4-FFF2-40B4-BE49-F238E27FC236}">
                <a16:creationId xmlns:a16="http://schemas.microsoft.com/office/drawing/2014/main" id="{F9918B1A-F433-5034-226F-5A7B8785FB69}"/>
              </a:ext>
            </a:extLst>
          </p:cNvPr>
          <p:cNvSpPr>
            <a:spLocks/>
          </p:cNvSpPr>
          <p:nvPr/>
        </p:nvSpPr>
        <p:spPr bwMode="auto">
          <a:xfrm>
            <a:off x="3291840" y="1645920"/>
            <a:ext cx="7772400" cy="12801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45720" rIns="45720" wrap="square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 algn="l">
              <a:spcAft>
                <a:spcPts val="200"/>
              </a:spcAft>
              <a:defRPr sz="2800" b="1">
                <a:solidFill>
                  <a:srgbClr val="191919"/>
                </a:solidFill>
                <a:latin typeface="Calibri"/>
              </a:defRPr>
            </a:pPr>
            <a:r>
              <a:t>Algorytm „Neuro-Curiosity”</a:t>
            </a:r>
            <a:endParaRPr lang="en-US" altLang="pl-PL" sz="3200"/>
          </a:p>
          <a:p>
            <a:pPr algn="l">
              <a:spcAft>
                <a:spcPts val="0"/>
              </a:spcAft>
              <a:defRPr sz="2100" b="1">
                <a:solidFill>
                  <a:srgbClr val="990000"/>
                </a:solidFill>
                <a:latin typeface="Calibri"/>
              </a:defRPr>
            </a:pPr>
            <a:r>
              <a:t>do optymalizacji strategii sterowania pojazdów autonomicznych</a:t>
            </a:r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BED88773-34FF-5715-264E-12601F55D8C3}"/>
              </a:ext>
            </a:extLst>
          </p:cNvPr>
          <p:cNvSpPr>
            <a:spLocks/>
          </p:cNvSpPr>
          <p:nvPr/>
        </p:nvSpPr>
        <p:spPr bwMode="auto">
          <a:xfrm>
            <a:off x="3291840" y="3017520"/>
            <a:ext cx="7772400" cy="731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 algn="l">
              <a:spcAft>
                <a:spcPts val="200"/>
              </a:spcAft>
              <a:defRPr sz="1300" b="1">
                <a:solidFill>
                  <a:srgbClr val="006633"/>
                </a:solidFill>
                <a:latin typeface="Calibri"/>
              </a:defRPr>
            </a:pPr>
            <a:r>
              <a:t>PROGRAM INICJATYWA DOSKONAŁOŚCI – UCZELNIA BADAWCZA (IDUB)</a:t>
            </a:r>
            <a:endParaRPr lang="en-US" altLang="pl-PL" sz="1600">
              <a:solidFill>
                <a:srgbClr val="808080"/>
              </a:solidFill>
            </a:endParaRPr>
          </a:p>
          <a:p>
            <a:pPr algn="l">
              <a:spcAft>
                <a:spcPts val="0"/>
              </a:spcAft>
              <a:defRPr sz="1200" b="0">
                <a:solidFill>
                  <a:srgbClr val="5A5F64"/>
                </a:solidFill>
                <a:latin typeface="Calibri"/>
              </a:defRPr>
            </a:pPr>
            <a:r>
              <a:t>Działanie D12: Wsparcie Kół Naukowych | POB 6: Inteligentne techniki informacyjne i sterowania</a:t>
            </a:r>
          </a:p>
        </p:txBody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A7E60247-E94E-65E4-BBBA-3BDC4AC33C83}"/>
              </a:ext>
            </a:extLst>
          </p:cNvPr>
          <p:cNvSpPr>
            <a:spLocks/>
          </p:cNvSpPr>
          <p:nvPr/>
        </p:nvSpPr>
        <p:spPr bwMode="auto">
          <a:xfrm>
            <a:off x="3291840" y="3840480"/>
            <a:ext cx="7772400" cy="731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45720" rIns="45720" wrap="square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 algn="l">
              <a:spcAft>
                <a:spcPts val="2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Akademia Górniczo-Hutnicza im. Stanisława Staszica w Krakowie</a:t>
            </a:r>
          </a:p>
          <a:p>
            <a:pPr algn="l">
              <a:spcAft>
                <a:spcPts val="0"/>
              </a:spcAft>
              <a:defRPr sz="1200" b="0">
                <a:solidFill>
                  <a:srgbClr val="5A5F64"/>
                </a:solidFill>
                <a:latin typeface="Calibri"/>
              </a:defRPr>
            </a:pPr>
            <a:r>
              <a:t>Koło Naukowe SENSOR • WIMiR &amp; Wydział Odlewnictwa (Przemysł 4.0)</a:t>
            </a:r>
          </a:p>
        </p:txBody>
      </p:sp>
      <p:sp>
        <p:nvSpPr>
          <p:cNvPr id="5125" name="pole tekstowe 1">
            <a:extLst>
              <a:ext uri="{FF2B5EF4-FFF2-40B4-BE49-F238E27FC236}">
                <a16:creationId xmlns:a16="http://schemas.microsoft.com/office/drawing/2014/main" id="{8D9BE915-A55A-4DA9-73CA-E97AB9E949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360" y="5440680"/>
            <a:ext cx="7315200" cy="1051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l">
              <a:spcAft>
                <a:spcPts val="2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Opiekun projektu: dr hab. inż. Krzysztof Lalik, prof. AGH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5A5F64"/>
                </a:solidFill>
                <a:latin typeface="Calibri"/>
              </a:defRPr>
            </a:pPr>
            <a:r>
              <a:t>Prezenter: Patryk Pięta (Cyfrowy Bliźniak) | Zespół: R. Homa, Z. Tatar, J. Pryma, M. Bednarczyk i in.</a:t>
            </a:r>
          </a:p>
        </p:txBody>
      </p:sp>
      <p:pic>
        <p:nvPicPr>
          <p:cNvPr id="2" name="Obraz 1" descr="Obraz zawierający rysowanie, szkic, sztuka, symbol&#10;&#10;Zawartość wygenerowana przez AI może być niepoprawna.">
            <a:extLst>
              <a:ext uri="{FF2B5EF4-FFF2-40B4-BE49-F238E27FC236}">
                <a16:creationId xmlns:a16="http://schemas.microsoft.com/office/drawing/2014/main" id="{4E151ED1-E252-7049-52A1-49AF3D438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5833" y="743298"/>
            <a:ext cx="2237250" cy="2503855"/>
          </a:xfrm>
          <a:prstGeom prst="rect">
            <a:avLst/>
          </a:prstGeom>
        </p:spPr>
      </p:pic>
      <p:pic>
        <p:nvPicPr>
          <p:cNvPr id="3" name="Obraz 2" descr="Obraz zawierający krąg, design&#10;&#10;Zawartość wygenerowana przez AI może być niepoprawna.">
            <a:extLst>
              <a:ext uri="{FF2B5EF4-FFF2-40B4-BE49-F238E27FC236}">
                <a16:creationId xmlns:a16="http://schemas.microsoft.com/office/drawing/2014/main" id="{DD54D97F-6305-DB50-44CC-C8334A327A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070" y="4657857"/>
            <a:ext cx="2876660" cy="1752600"/>
          </a:xfrm>
          <a:prstGeom prst="rect">
            <a:avLst/>
          </a:prstGeom>
        </p:spPr>
      </p:pic>
      <p:sp>
        <p:nvSpPr>
          <p:cNvPr id="5126" name="Rectangle 5125"/>
          <p:cNvSpPr/>
          <p:nvPr/>
        </p:nvSpPr>
        <p:spPr>
          <a:xfrm>
            <a:off x="10195560" y="2697480"/>
            <a:ext cx="32461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91919"/>
                </a:solidFill>
                <a:latin typeface="Calibri"/>
              </a:defRPr>
            </a:pPr>
            <a:r>
              <a:t>PROJEKT FINANSOWANY ZE ŚRODKÓW IDUB D12 AGH</a:t>
            </a:r>
          </a:p>
          <a:p>
            <a:pPr algn="ctr">
              <a:spcAft>
                <a:spcPts val="0"/>
              </a:spcAft>
              <a:defRPr sz="900" b="1">
                <a:solidFill>
                  <a:srgbClr val="990000"/>
                </a:solidFill>
                <a:latin typeface="Calibri"/>
              </a:defRPr>
            </a:pPr>
            <a:r>
              <a:t>POB 6 • EDYCJA VI 2025/2026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PROBLEM BADAWCZY</a:t>
            </a:r>
          </a:p>
          <a:p>
            <a:pPr algn="l">
              <a:spcAft>
                <a:spcPts val="0"/>
              </a:spcAft>
              <a:defRPr sz="2200" b="1">
                <a:solidFill>
                  <a:srgbClr val="191919"/>
                </a:solidFill>
                <a:latin typeface="Calibri"/>
              </a:defRPr>
            </a:pPr>
            <a:r>
              <a:t>Dlaczego tradycyjne uczenie (RL) zawodzi w magazynie?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548640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00"/>
              </a:spcAft>
              <a:defRPr sz="1400" b="1">
                <a:solidFill>
                  <a:srgbClr val="990000"/>
                </a:solidFill>
                <a:latin typeface="Calibri"/>
              </a:defRPr>
            </a:pPr>
            <a:r>
              <a:t>1. Rzadkie nagrody (Sparse Rewards)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• Brak sygnału sprzężenia zwrotnego w hali przed dotarciem do stacji docelowej.</a:t>
            </a:r>
            <a:br/>
            <a:r>
              <a:t>• Agent wykonuje miliony bezużytecznych, chaotycznych ruchów.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3310128"/>
            <a:ext cx="548640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00"/>
              </a:spcAft>
              <a:defRPr sz="1400" b="1">
                <a:solidFill>
                  <a:srgbClr val="990000"/>
                </a:solidFill>
                <a:latin typeface="Calibri"/>
              </a:defRPr>
            </a:pPr>
            <a:r>
              <a:t>2. Klątwa wielowymiarowości chmur LiDAR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• Tysiące punktów laserowych tworzą gigantyczną przestrzeń obserwacji.</a:t>
            </a:r>
            <a:br/>
            <a:r>
              <a:t>• Szum sensoryczny, odblaski i cienie zakłócają klasyczną eksplorację.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928616"/>
            <a:ext cx="548640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00"/>
              </a:spcAft>
              <a:defRPr sz="1400" b="1">
                <a:solidFill>
                  <a:srgbClr val="990000"/>
                </a:solidFill>
                <a:latin typeface="Calibri"/>
              </a:defRPr>
            </a:pPr>
            <a:r>
              <a:t>3. Eksploracja ε-greedy niszczy sprzęt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• Losowe zwroty kół grożą natychmiastową kolizją z infrastrukturą magazynu.</a:t>
            </a:r>
            <a:br/>
            <a:r>
              <a:t>• Wysokie szarpnięcie (Jerk) powoduje przeciążenia i zużycie mechaniki napędów.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691640"/>
            <a:ext cx="649224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pic>
        <p:nvPicPr>
          <p:cNvPr id="7" name="Picture 6" descr="fig_problem_expl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2183713"/>
            <a:ext cx="6345936" cy="33135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5971031"/>
            <a:ext cx="630935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0"/>
              </a:spcAft>
              <a:defRPr sz="950" b="0">
                <a:solidFill>
                  <a:srgbClr val="5A5F64"/>
                </a:solidFill>
                <a:latin typeface="Calibri"/>
              </a:defRPr>
            </a:pPr>
            <a:r>
              <a:t>Eksploracja magazynu: kolizje w metodzie ε-greedy vs celowa, bezpieczna trajektoria Neuro-Curiosity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ISTOTA INNOWACJI</a:t>
            </a:r>
          </a:p>
          <a:p>
            <a:pPr algn="l">
              <a:spcAft>
                <a:spcPts val="0"/>
              </a:spcAft>
              <a:defRPr sz="2200" b="1">
                <a:solidFill>
                  <a:srgbClr val="191919"/>
                </a:solidFill>
                <a:latin typeface="Calibri"/>
              </a:defRPr>
            </a:pPr>
            <a:r>
              <a:t>Wewnętrzna motywacja w sterowaniu: Architektura ICM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5120640" cy="1417320"/>
          </a:xfrm>
          <a:prstGeom prst="roundRect">
            <a:avLst/>
          </a:prstGeom>
          <a:solidFill>
            <a:srgbClr val="F0F9F4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00"/>
              </a:spcAft>
              <a:defRPr sz="1400" b="1">
                <a:solidFill>
                  <a:srgbClr val="006633"/>
                </a:solidFill>
                <a:latin typeface="Calibri"/>
              </a:defRPr>
            </a:pPr>
            <a:r>
              <a:t>Ciekawość poznawcza (Neuro-Curiosity)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• Robot dąży do stanów, których jeszcze NIE potrafi przewidzieć.</a:t>
            </a:r>
            <a:br/>
            <a:r>
              <a:t>• Wewnętrzna nagroda: r_i = ||φ(s_{t+1}) - f(φ(s_t), a_t)||².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3310128"/>
            <a:ext cx="512064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00"/>
              </a:spcAft>
              <a:defRPr sz="1400" b="1">
                <a:solidFill>
                  <a:srgbClr val="191919"/>
                </a:solidFill>
                <a:latin typeface="Calibri"/>
              </a:defRPr>
            </a:pPr>
            <a:r>
              <a:t>Model dynamiki w przód (Forward Dynamics)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• Przewiduje cechy przyszłego stanu sensora z akcji: f(φ(s_t), a_t).</a:t>
            </a:r>
            <a:br/>
            <a:r>
              <a:t>• Samosuperwizowana nauka bez żmudnego, ręcznego reward shapingu.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928616"/>
            <a:ext cx="512064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00"/>
              </a:spcAft>
              <a:defRPr sz="1400" b="1">
                <a:solidFill>
                  <a:srgbClr val="191919"/>
                </a:solidFill>
                <a:latin typeface="Calibri"/>
              </a:defRPr>
            </a:pPr>
            <a:r>
              <a:t>Inverse Model (Filtracja szumu otoczenia)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• Usuwa 'problem migoczącego ekranu' (niezależne fluktuacje otoczenia).</a:t>
            </a:r>
            <a:br/>
            <a:r>
              <a:t>• Agent skupia się wyłącznie na cechach, na które MA realny wpływ.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691640"/>
            <a:ext cx="68580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pic>
        <p:nvPicPr>
          <p:cNvPr id="7" name="Picture 6" descr="fig_ic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3514" y="1764792"/>
            <a:ext cx="6629611" cy="41513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80759" y="5971031"/>
            <a:ext cx="667512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0"/>
              </a:spcAft>
              <a:defRPr sz="950" b="0">
                <a:solidFill>
                  <a:srgbClr val="5A5F64"/>
                </a:solidFill>
                <a:latin typeface="Calibri"/>
              </a:defRPr>
            </a:pPr>
            <a:r>
              <a:t>Przepływ sygnałów w module ICM: enkoder cech φ, predykcja dynamiki i generowanie nagrody wewnętrznej r_t^i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METODOLOGIA BADAŃ</a:t>
            </a:r>
          </a:p>
          <a:p>
            <a:pPr algn="l">
              <a:spcAft>
                <a:spcPts val="0"/>
              </a:spcAft>
              <a:defRPr sz="2200" b="1">
                <a:solidFill>
                  <a:srgbClr val="191919"/>
                </a:solidFill>
                <a:latin typeface="Calibri"/>
              </a:defRPr>
            </a:pPr>
            <a:r>
              <a:t>Transfer Sim-to-Real i Domain Randomization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3886200" cy="1325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400" b="1">
                <a:solidFill>
                  <a:srgbClr val="0D47A1"/>
                </a:solidFill>
                <a:latin typeface="Calibri"/>
              </a:defRPr>
            </a:pPr>
            <a:r>
              <a:t>1. NVIDIA Isaac Sim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• Fotorealistyczna fizyka PhysX &amp; RTX.</a:t>
            </a:r>
            <a:br/>
            <a:r>
              <a:t>• Masowy, równoległy trening floty w chmurze.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73168" y="1691640"/>
            <a:ext cx="3886200" cy="1325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400" b="1">
                <a:solidFill>
                  <a:srgbClr val="0D47A1"/>
                </a:solidFill>
                <a:latin typeface="Calibri"/>
              </a:defRPr>
            </a:pPr>
            <a:r>
              <a:t>2. Domain Randomization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• Zmienne tarcie kół (μ: 0.35-0.95), masa ładunku.</a:t>
            </a:r>
            <a:br/>
            <a:r>
              <a:t>• Syntetyczny jitter i szum sensoryczny LiDAR.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51976" y="1691640"/>
            <a:ext cx="3886200" cy="1325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400" b="1">
                <a:solidFill>
                  <a:srgbClr val="0D47A1"/>
                </a:solidFill>
                <a:latin typeface="Calibri"/>
              </a:defRPr>
            </a:pPr>
            <a:r>
              <a:t>3. Zero-Shot Transfer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• Eksport do formatu TensorRT na Jetson Orin.</a:t>
            </a:r>
            <a:br/>
            <a:r>
              <a:t>• Bezpośrednie wdrożenie: -75% testów na hali.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200400"/>
            <a:ext cx="5897880" cy="3154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pic>
        <p:nvPicPr>
          <p:cNvPr id="7" name="Picture 6" descr="fig_isaac_sim_r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956" y="3273552"/>
            <a:ext cx="4734687" cy="26426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71032"/>
            <a:ext cx="5715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0"/>
              </a:spcAft>
              <a:defRPr sz="950" b="0">
                <a:solidFill>
                  <a:srgbClr val="5A5F64"/>
                </a:solidFill>
                <a:latin typeface="Calibri"/>
              </a:defRPr>
            </a:pPr>
            <a:r>
              <a:t>Wirtualny poligon w NVIDIA Isaac Sim: promienie LiDAR RTX i model sensoryczny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3200400"/>
            <a:ext cx="5897880" cy="3154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pic>
        <p:nvPicPr>
          <p:cNvPr id="10" name="Picture 9" descr="fig_physical_agv_hardwa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3876" y="3273552"/>
            <a:ext cx="4734687" cy="26426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971032"/>
            <a:ext cx="5715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0"/>
              </a:spcAft>
              <a:defRPr sz="950" b="0">
                <a:solidFill>
                  <a:srgbClr val="5A5F64"/>
                </a:solidFill>
                <a:latin typeface="Calibri"/>
              </a:defRPr>
            </a:pPr>
            <a:r>
              <a:t>Fizyczna platforma AGV: moduł NVIDIA Jetson Orin NX, laserowy skaner i koła Mecanum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DEMONSTRACJA I INTEGRACJA</a:t>
            </a:r>
          </a:p>
          <a:p>
            <a:pPr algn="l">
              <a:spcAft>
                <a:spcPts val="0"/>
              </a:spcAft>
              <a:defRPr sz="2200" b="1">
                <a:solidFill>
                  <a:srgbClr val="191919"/>
                </a:solidFill>
                <a:latin typeface="Calibri"/>
              </a:defRPr>
            </a:pPr>
            <a:r>
              <a:t>Cyfrowy Bliźniak (Digital Twin) i architektura Edge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6949440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pic>
        <p:nvPicPr>
          <p:cNvPr id="4" name="Picture 3" descr="digital_twin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6766560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4360" y="5257800"/>
            <a:ext cx="6949440" cy="502920"/>
          </a:xfrm>
          <a:prstGeom prst="roundRect">
            <a:avLst/>
          </a:prstGeom>
          <a:solidFill>
            <a:srgbClr val="F0F9F4"/>
          </a:solidFill>
          <a:ln w="15240">
            <a:solidFill>
              <a:srgbClr val="006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0"/>
              </a:spcAft>
              <a:defRPr sz="950" b="1">
                <a:solidFill>
                  <a:srgbClr val="006633"/>
                </a:solidFill>
                <a:latin typeface="Calibri"/>
              </a:defRPr>
            </a:pPr>
            <a:r>
              <a:t>▶ LIVE DEMO 3D: http://localhost:8080 (Three.js WebGL, arena 100x100m, dwa pojazdy i telemetria HUD)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1691640"/>
            <a:ext cx="4892040" cy="1234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400" b="1">
                <a:solidFill>
                  <a:srgbClr val="006633"/>
                </a:solidFill>
                <a:latin typeface="Calibri"/>
              </a:defRPr>
            </a:pPr>
            <a:r>
              <a:t>Pokładowe Edge AI: NVIDIA Jetson Orin NX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191919"/>
                </a:solidFill>
                <a:latin typeface="Calibri"/>
              </a:defRPr>
            </a:pPr>
            <a:r>
              <a:t>• Czas inferencji: &lt; 15 ms (sterowanie deterministyczne w czasie rzeczywistym).</a:t>
            </a:r>
            <a:br/>
            <a:r>
              <a:t>• Do 100 TOPS mocy obliczeniowej dla głębokich sieci neuronowych.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3035808"/>
            <a:ext cx="4892040" cy="1234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400" b="1">
                <a:solidFill>
                  <a:srgbClr val="0D47A1"/>
                </a:solidFill>
                <a:latin typeface="Calibri"/>
              </a:defRPr>
            </a:pPr>
            <a:r>
              <a:t>Szyna danych IIoT: Kafka + TimescaleDB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191919"/>
                </a:solidFill>
                <a:latin typeface="Calibri"/>
              </a:defRPr>
            </a:pPr>
            <a:r>
              <a:t>• Apache Kafka: asynchroniczny broker telemetrii i odczytów LiDAR.</a:t>
            </a:r>
            <a:br/>
            <a:r>
              <a:t>• TimescaleDB + Spark: rejestracja trajektorii i analiza przeciążeń napędów.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379976"/>
            <a:ext cx="4892040" cy="1975104"/>
          </a:xfrm>
          <a:prstGeom prst="roundRect">
            <a:avLst/>
          </a:prstGeom>
          <a:solidFill>
            <a:srgbClr val="EEF3FA"/>
          </a:solidFill>
          <a:ln w="19050">
            <a:solidFill>
              <a:srgbClr val="96B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250" b="1">
                <a:solidFill>
                  <a:srgbClr val="0D47A1"/>
                </a:solidFill>
                <a:latin typeface="Calibri"/>
              </a:defRPr>
            </a:pPr>
            <a:r>
              <a:t>▶ WIDEO Z PRZEJAZDU THREE.JS / LIVE DEMO</a:t>
            </a:r>
          </a:p>
          <a:p>
            <a:pPr algn="ctr">
              <a:spcAft>
                <a:spcPts val="0"/>
              </a:spcAft>
              <a:defRPr sz="1000" b="0">
                <a:solidFill>
                  <a:srgbClr val="5A5F64"/>
                </a:solidFill>
                <a:latin typeface="Calibri"/>
              </a:defRPr>
            </a:pPr>
            <a:r>
              <a:t>Miejsce na Twoje nagranie wideo (MP4) z omijania przeszkód w 3D</a:t>
            </a:r>
            <a:br/>
            <a:r>
              <a:t>(Wstawianie -&gt; Wideo -&gt; Wideo na tym urządzeniu...)</a:t>
            </a:r>
            <a:br/>
            <a:r>
              <a:t>Lub przełącz się na żywo do przeglądarki: Alt + Tab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EWALUACJA EMPIRYCZNA</a:t>
            </a:r>
          </a:p>
          <a:p>
            <a:pPr algn="l">
              <a:spcAft>
                <a:spcPts val="0"/>
              </a:spcAft>
              <a:defRPr sz="2200" b="1">
                <a:solidFill>
                  <a:srgbClr val="191919"/>
                </a:solidFill>
                <a:latin typeface="Calibri"/>
              </a:defRPr>
            </a:pPr>
            <a:r>
              <a:t>Weryfikacja statystyczna i kluczowe wskaźniki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5212080" cy="1371600"/>
          </a:xfrm>
          <a:prstGeom prst="roundRect">
            <a:avLst/>
          </a:prstGeom>
          <a:solidFill>
            <a:srgbClr val="F0F9F4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500" b="1">
                <a:solidFill>
                  <a:srgbClr val="006633"/>
                </a:solidFill>
                <a:latin typeface="Calibri"/>
              </a:defRPr>
            </a:pPr>
            <a:r>
              <a:t>+85%  Średnia droga bezkolizyjna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Pojazd z algorytmem Neuro-Curiosity pokonuje złożony labirynt regałów bez naruszenia strefy bezpieczeństwa przeszkód.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3200400"/>
            <a:ext cx="5212080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500" b="1">
                <a:solidFill>
                  <a:srgbClr val="990000"/>
                </a:solidFill>
                <a:latin typeface="Calibri"/>
              </a:defRPr>
            </a:pPr>
            <a:r>
              <a:t>-62%  Wskaźnik szarpnięcia (Jerk)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Trzecia pochodna położenia (J = d³x/dt³). Płynniejszy profil przyspieszeń chroni przewożony ładunek i przekładnie kół.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709160"/>
            <a:ext cx="5212080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400" b="1">
                <a:solidFill>
                  <a:srgbClr val="191919"/>
                </a:solidFill>
                <a:latin typeface="Calibri"/>
              </a:defRPr>
            </a:pPr>
            <a:r>
              <a:t>Rygor statystyczny: Test Friedmana i Nemenyiego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5A5F64"/>
                </a:solidFill>
                <a:latin typeface="Calibri"/>
              </a:defRPr>
            </a:pPr>
            <a:r>
              <a:t>• Nieparametryczna ocena na 50 zróżnicowanych trasach magazynowych.</a:t>
            </a:r>
            <a:br/>
            <a:r>
              <a:t>• Istotność statystyczna przewagi z poziomem p &lt; 0.001.</a:t>
            </a:r>
            <a:br/>
            <a:r>
              <a:t>• Spełnienie rygorystycznych wymogów recenzenckich czasopism JCR Q1.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60" y="1691640"/>
            <a:ext cx="676656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pic>
        <p:nvPicPr>
          <p:cNvPr id="7" name="Picture 6" descr="fig_learning_curves_and_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8572" y="1764792"/>
            <a:ext cx="6130934" cy="41513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971031"/>
            <a:ext cx="658368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0"/>
              </a:spcAft>
              <a:defRPr sz="950" b="0">
                <a:solidFill>
                  <a:srgbClr val="5A5F64"/>
                </a:solidFill>
                <a:latin typeface="Calibri"/>
              </a:defRPr>
            </a:pPr>
            <a:r>
              <a:t>Ewaluacja empiryczna: Przebieg zbieżności uczenia (Panel A) oraz rozkład drogi bezkolizyjnej (Panel 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ZARZĄDZANIE PROJEKTEM</a:t>
            </a:r>
          </a:p>
          <a:p>
            <a:pPr algn="l">
              <a:spcAft>
                <a:spcPts val="0"/>
              </a:spcAft>
              <a:defRPr sz="2200" b="1">
                <a:solidFill>
                  <a:srgbClr val="191919"/>
                </a:solidFill>
                <a:latin typeface="Calibri"/>
              </a:defRPr>
            </a:pPr>
            <a:r>
              <a:t>Harmonogram realizacji i kamienie milowe projektu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539496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Kwartał I: Symulacja Isaac Sim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Model geometrii magazynu, kinematyka AGV, moduł ICM w PyTorch.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871216"/>
            <a:ext cx="539496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Kwartał II: Edge AI &amp; Cyfrowy Bliźniak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Wdrożenie TensorRT na Jetson Orin NX, integracja szyny Kafka i 3D.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050791"/>
            <a:ext cx="539496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Kwartał III: Domain Randomization &amp; Sim-to-Real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Testy odporności, randomizacja tarcia posadzki, próby jezdne AGV.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5230368"/>
            <a:ext cx="539496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300" b="1">
                <a:solidFill>
                  <a:srgbClr val="006633"/>
                </a:solidFill>
                <a:latin typeface="Calibri"/>
              </a:defRPr>
            </a:pPr>
            <a:r>
              <a:t>Kwartał IV: Ewaluacja i Upowszechnienie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Seria 50 testów statystycznych, artykuł Q1, konferencja ICCC 2026.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91640"/>
            <a:ext cx="65836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pic>
        <p:nvPicPr>
          <p:cNvPr id="8" name="Picture 7" descr="fig_agh_robotics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6792" y="2044002"/>
            <a:ext cx="6437376" cy="35929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79" y="5971031"/>
            <a:ext cx="64008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0"/>
              </a:spcAft>
              <a:defRPr sz="950" b="0">
                <a:solidFill>
                  <a:srgbClr val="5A5F64"/>
                </a:solidFill>
                <a:latin typeface="Calibri"/>
              </a:defRPr>
            </a:pPr>
            <a:r>
              <a:t>Stanowisko badawcze i zaplecze w Laboratorium Robotyki Mobilnej AGH (SKN SENSOR)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BUDŻET I TRANSFER WIEDZY</a:t>
            </a:r>
          </a:p>
          <a:p>
            <a:pPr algn="l">
              <a:spcAft>
                <a:spcPts val="0"/>
              </a:spcAft>
              <a:defRPr sz="2200" b="1">
                <a:solidFill>
                  <a:srgbClr val="191919"/>
                </a:solidFill>
                <a:latin typeface="Calibri"/>
              </a:defRPr>
            </a:pPr>
            <a:r>
              <a:t>Budżet projektu oraz plan upowszechniania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5303520" cy="1417320"/>
          </a:xfrm>
          <a:prstGeom prst="roundRect">
            <a:avLst/>
          </a:prstGeom>
          <a:solidFill>
            <a:srgbClr val="F0F9F4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00"/>
              </a:spcAft>
              <a:defRPr sz="1600" b="1">
                <a:solidFill>
                  <a:srgbClr val="990000"/>
                </a:solidFill>
                <a:latin typeface="Calibri"/>
              </a:defRPr>
            </a:pPr>
            <a:r>
              <a:t>Całkowity budżet grantu: 44 900 PLN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• Efektywna alokacja środków na sprzęt brzegowy i konferencje międzynarodowe.</a:t>
            </a:r>
            <a:br/>
            <a:r>
              <a:t>• Stypendia motywacyjne dla wykonawców: 8 980 PLN (subwencja).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3310128"/>
            <a:ext cx="530352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00"/>
              </a:spcAft>
              <a:defRPr sz="1400" b="1">
                <a:solidFill>
                  <a:srgbClr val="191919"/>
                </a:solidFill>
                <a:latin typeface="Calibri"/>
              </a:defRPr>
            </a:pPr>
            <a:r>
              <a:t>Główne pozycje kosztorysu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• Jednostka Edge AI (NVIDIA Jetson Orin NX + zasilanie): 8 000 PLN</a:t>
            </a:r>
            <a:br/>
            <a:r>
              <a:t>• Wyjazdy i konferencje naukowe (ICCC 2026, KKR 2026): 35 000 PLN</a:t>
            </a:r>
            <a:br/>
            <a:r>
              <a:t>• Aparatura pomiarowa, sensory i opłaty Open Access: 1 900 PLN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928616"/>
            <a:ext cx="530352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00"/>
              </a:spcAft>
              <a:defRPr sz="1400" b="1">
                <a:solidFill>
                  <a:srgbClr val="006633"/>
                </a:solidFill>
                <a:latin typeface="Calibri"/>
              </a:defRPr>
            </a:pPr>
            <a:r>
              <a:t>Kanały upowszechniania wyników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• Publikacja w prestiżowym czasopiśmie JCR Q1 (Open Access).</a:t>
            </a:r>
            <a:br/>
            <a:r>
              <a:t>• Repozytorium Open Source na GitHubie (kod, wagi sieci, architektura).</a:t>
            </a:r>
            <a:br/>
            <a:r>
              <a:t>• Pokazy na żywo na Dniach Otwartych AGH i Festiwalu Nauki.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91640"/>
            <a:ext cx="66751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pic>
        <p:nvPicPr>
          <p:cNvPr id="7" name="Picture 6" descr="fig_budget_and_disse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244" y="1764792"/>
            <a:ext cx="6515030" cy="41513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5971031"/>
            <a:ext cx="649224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0"/>
              </a:spcAft>
              <a:defRPr sz="950" b="0">
                <a:solidFill>
                  <a:srgbClr val="5A5F64"/>
                </a:solidFill>
                <a:latin typeface="Calibri"/>
              </a:defRPr>
            </a:pPr>
            <a:r>
              <a:t>Alokacja środków grantu IDUB D12 (44 900 PLN) oraz indeksowane bazy i fora dysseminacji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PODSUMOWANIE</a:t>
            </a:r>
          </a:p>
          <a:p>
            <a:pPr algn="l">
              <a:spcAft>
                <a:spcPts val="0"/>
              </a:spcAft>
              <a:defRPr sz="2200" b="1">
                <a:solidFill>
                  <a:srgbClr val="191919"/>
                </a:solidFill>
                <a:latin typeface="Calibri"/>
              </a:defRPr>
            </a:pPr>
            <a:r>
              <a:t>Podsumowanie projektu i perspektywy wdrożeniowe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5669280" cy="1417320"/>
          </a:xfrm>
          <a:prstGeom prst="roundRect">
            <a:avLst/>
          </a:prstGeom>
          <a:solidFill>
            <a:srgbClr val="F0F9F4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400" b="1">
                <a:solidFill>
                  <a:srgbClr val="006633"/>
                </a:solidFill>
                <a:latin typeface="Calibri"/>
              </a:defRPr>
            </a:pPr>
            <a:r>
              <a:t>1. Innowacja naukowa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Przełamanie bariery rzadkich nagród w robotyce mobilnej dzięki modułowi Neuro-Curiosity i filtracji szumu sensorycznego.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3246120"/>
            <a:ext cx="566928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400" b="1">
                <a:solidFill>
                  <a:srgbClr val="990000"/>
                </a:solidFill>
                <a:latin typeface="Calibri"/>
              </a:defRPr>
            </a:pPr>
            <a:r>
              <a:t>2. Bezpieczeństwo i ekonomia Sim-to-Real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Redukcja testów poligonowych o 75%, eliminacja kolizji oraz płynna jazda bez przeciążeń mechaniki napędów (niski Jerk).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800600"/>
            <a:ext cx="566928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200"/>
              </a:spcAft>
              <a:defRPr sz="1400" b="1">
                <a:solidFill>
                  <a:srgbClr val="0D47A1"/>
                </a:solidFill>
                <a:latin typeface="Calibri"/>
              </a:defRPr>
            </a:pPr>
            <a:r>
              <a:t>3. Synergia AGH i rozwój kadr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Ścisła współpraca WIMiR i Wydziału Odlewnictwa (Przemysł 4.0) w ramach POB 6 oraz integracja studenckiego Cyfrowego Bliźniaka.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1691640"/>
            <a:ext cx="6309360" cy="2103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600"/>
              </a:spcAft>
              <a:defRPr sz="2200" b="1">
                <a:solidFill>
                  <a:srgbClr val="990000"/>
                </a:solidFill>
                <a:latin typeface="Calibri"/>
              </a:defRPr>
            </a:pPr>
            <a:r>
              <a:t>DZIĘKUJEMY ZA UWAGĘ!</a:t>
            </a:r>
          </a:p>
          <a:p>
            <a:pPr algn="ctr">
              <a:spcAft>
                <a:spcPts val="0"/>
              </a:spcAft>
              <a:defRPr sz="1300" b="0">
                <a:solidFill>
                  <a:srgbClr val="191919"/>
                </a:solidFill>
                <a:latin typeface="Calibri"/>
              </a:defRPr>
            </a:pPr>
            <a:r>
              <a:t>Zapraszamy do dyskusji, zadawania pytań</a:t>
            </a:r>
            <a:br/>
            <a:r>
              <a:t>oraz demonstracji Live Demo Cyfrowego Bliźniaka AGV na żywo.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60" y="3977639"/>
            <a:ext cx="6309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pic>
        <p:nvPicPr>
          <p:cNvPr id="8" name="Picture 7" descr="fig_github_qr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4114800"/>
            <a:ext cx="1691640" cy="196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49640" y="4069080"/>
            <a:ext cx="41605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006633"/>
                </a:solidFill>
                <a:latin typeface="Calibri"/>
              </a:defRPr>
            </a:pPr>
            <a:r>
              <a:t>Repozytorium &amp; Cyfrowy Bliźniak</a:t>
            </a:r>
          </a:p>
          <a:p>
            <a:pPr algn="l">
              <a:spcAft>
                <a:spcPts val="400"/>
              </a:spcAft>
              <a:defRPr sz="1050" b="1">
                <a:solidFill>
                  <a:srgbClr val="0D47A1"/>
                </a:solidFill>
                <a:latin typeface="Calibri"/>
              </a:defRPr>
            </a:pPr>
            <a:r>
              <a:t>github.com/PatrykPieta/agv-telemetry-system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5A5F64"/>
                </a:solidFill>
                <a:latin typeface="Calibri"/>
              </a:defRPr>
            </a:pPr>
            <a:r>
              <a:t>• Kod modułu Neuro-Curiosity &amp; wagi modeli</a:t>
            </a:r>
            <a:br/>
            <a:r>
              <a:t>• Cyfrowy Bliźniak WebGL (Three.js + Apache Kafka)</a:t>
            </a:r>
            <a:br/>
            <a:r>
              <a:t>• Zeskanuj smartfonem, aby zobaczyć repozytorium!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 Presentation - Default">
  <a:themeElements>
    <a:clrScheme name="Motyw pakietu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otyw pakietu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tyw pakietu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nk Presentation">
  <a:themeElements>
    <a:clrScheme name="Motyw pakietu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otyw pakietu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tyw pakietu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Pakiet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Niestandardowy</PresentationFormat>
  <Slides>36</Slides>
  <Notes>25</Notes>
  <HiddenSlides>0</HiddenSlides>
  <ScaleCrop>false</ScaleCrop>
  <HeadingPairs>
    <vt:vector size="4" baseType="variant">
      <vt:variant>
        <vt:lpstr>Motyw</vt:lpstr>
      </vt:variant>
      <vt:variant>
        <vt:i4>2</vt:i4>
      </vt:variant>
      <vt:variant>
        <vt:lpstr>Tytuły slajdów</vt:lpstr>
      </vt:variant>
      <vt:variant>
        <vt:i4>36</vt:i4>
      </vt:variant>
    </vt:vector>
  </HeadingPairs>
  <TitlesOfParts>
    <vt:vector size="38" baseType="lpstr">
      <vt:lpstr>Blank Presentation - Default</vt:lpstr>
      <vt:lpstr>Blank Presentation</vt:lpstr>
      <vt:lpstr>Prezentacja programu PowerPoint</vt:lpstr>
      <vt:lpstr>1. Założenia Projektu</vt:lpstr>
      <vt:lpstr>2. Zasada Działania Sonarów </vt:lpstr>
      <vt:lpstr>2. Zasada Działania Sonarów </vt:lpstr>
      <vt:lpstr>3. Konstrukcja Sonaru</vt:lpstr>
      <vt:lpstr>3. Konstrukcja Sonaru</vt:lpstr>
      <vt:lpstr>3. Konstrukcja Sonaru</vt:lpstr>
      <vt:lpstr>3. Konstrukcja Sonaru</vt:lpstr>
      <vt:lpstr>3. Konstrukcja Sonaru</vt:lpstr>
      <vt:lpstr>3. Konstrukcja Sonaru</vt:lpstr>
      <vt:lpstr>3. Konstrukcja Sonaru</vt:lpstr>
      <vt:lpstr>3. Konstrukcja Sonaru</vt:lpstr>
      <vt:lpstr>4. Elektronika</vt:lpstr>
      <vt:lpstr>4. Elektronika</vt:lpstr>
      <vt:lpstr>4. Elektronika</vt:lpstr>
      <vt:lpstr>4. Elektronika</vt:lpstr>
      <vt:lpstr>4. Elektronika</vt:lpstr>
      <vt:lpstr>4. Elektronika</vt:lpstr>
      <vt:lpstr>4. Elektronika</vt:lpstr>
      <vt:lpstr>4. Elektronika</vt:lpstr>
      <vt:lpstr>4. Elektronika</vt:lpstr>
      <vt:lpstr>5. Akwizycja danych</vt:lpstr>
      <vt:lpstr>5. Akwizycja danych</vt:lpstr>
      <vt:lpstr>6. Analiza danych</vt:lpstr>
      <vt:lpstr>6. Analiza danych</vt:lpstr>
      <vt:lpstr>6. Analiza danych</vt:lpstr>
      <vt:lpstr>7. Złożenie urządzenia</vt:lpstr>
      <vt:lpstr>8. Testy</vt:lpstr>
      <vt:lpstr>8. Testy</vt:lpstr>
      <vt:lpstr>8. Testy</vt:lpstr>
      <vt:lpstr>8. Testy</vt:lpstr>
      <vt:lpstr>9. Plany i wyzwania na przyszłość</vt:lpstr>
      <vt:lpstr>Korzyści dla koła z realizacji projektu</vt:lpstr>
      <vt:lpstr>Podsumowanie finansowe grantu</vt:lpstr>
      <vt:lpstr>10. Bibliografia</vt:lpstr>
      <vt:lpstr>Dziękuję za uwagę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Maciek</dc:creator>
  <cp:lastModifiedBy>Patryk pięta</cp:lastModifiedBy>
  <cp:revision>2</cp:revision>
  <dcterms:modified xsi:type="dcterms:W3CDTF">2025-10-23T20:56:24Z</dcterms:modified>
</cp:coreProperties>
</file>