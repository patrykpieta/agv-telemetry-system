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72" r:id="rId1"/>
    <p:sldMasterId id="2147483684" r:id="rId2"/>
  </p:sldMasterIdLst>
  <p:notesMasterIdLst>
    <p:notesMasterId r:id="rId39"/>
  </p:notesMasterIdLst>
  <p:handoutMasterIdLst>
    <p:handoutMasterId r:id="rId40"/>
  </p:handoutMasterIdLst>
  <p:sldIdLst>
    <p:sldId id="256" r:id="rId3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3433425" cy="7556500"/>
  <p:notesSz cx="6858000" cy="9144000"/>
  <p:defaultTextStyle>
    <a:defPPr>
      <a:defRPr lang="pl-PL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80">
          <p15:clr>
            <a:srgbClr val="A4A3A4"/>
          </p15:clr>
        </p15:guide>
        <p15:guide id="2" pos="42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Styl pośredni 3 — Ak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380"/>
        <p:guide pos="4231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2E986B9C-8AA1-E764-131B-B80C8052D4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1F353F1-8DD0-21DE-2E32-37B5413F68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5E468869-6D10-4B47-9B9C-709EA3F9F48F}" type="datetimeFigureOut">
              <a:rPr lang="pl-PL"/>
              <a:pPr>
                <a:defRPr/>
              </a:pPr>
              <a:t>23.10.2025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49CB7D2-3F62-5055-43EE-C27C984C3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0A7CA9C-3E11-92C3-9B9A-A322734920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2EBAED9-1D69-44EE-99CA-E15544D45CF6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E169CC27-8F39-5DF4-7FA1-DA5AB0966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0C4B3C9-6CAE-E77A-D3A8-24C058B993E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l-PL" noProof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altLang="pl-PL" noProof="0">
                <a:sym typeface="Helvetica Neue" charset="0"/>
              </a:rPr>
              <a:t>Second level</a:t>
            </a:r>
          </a:p>
          <a:p>
            <a:pPr lvl="2"/>
            <a:r>
              <a:rPr lang="en-US" altLang="pl-PL" noProof="0">
                <a:sym typeface="Helvetica Neue" charset="0"/>
              </a:rPr>
              <a:t>Third level</a:t>
            </a:r>
          </a:p>
          <a:p>
            <a:pPr lvl="3"/>
            <a:r>
              <a:rPr lang="en-US" altLang="pl-PL" noProof="0">
                <a:sym typeface="Helvetica Neue" charset="0"/>
              </a:rPr>
              <a:t>Fourth level</a:t>
            </a:r>
          </a:p>
          <a:p>
            <a:pPr lvl="4"/>
            <a:r>
              <a:rPr lang="en-US" altLang="pl-PL" noProof="0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/>
      </a:defRPr>
    </a:lvl1pPr>
    <a:lvl2pPr indent="228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/>
      </a:defRPr>
    </a:lvl2pPr>
    <a:lvl3pPr indent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/>
      </a:defRPr>
    </a:lvl3pPr>
    <a:lvl4pPr indent="685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/>
      </a:defRPr>
    </a:lvl4pPr>
    <a:lvl5pPr indent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pPr algn="l">
              <a:spcAft>
                <a:spcPts val="400"/>
              </a:spcAft>
              <a:defRPr sz="1300" b="1">
                <a:solidFill>
                  <a:srgbClr val="990000"/>
                </a:solidFill>
                <a:latin typeface="Calibri"/>
              </a:defRPr>
            </a:pPr>
            <a:r>
              <a:t>⏱ CZAS: 0:00 - 1:00 (60 sekund)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6633"/>
                </a:solidFill>
                <a:latin typeface="Calibri"/>
              </a:defRPr>
            </a:pPr>
            <a:r>
              <a:t>🎯 CEL SLAJDU: Wprowadzenie, przywitanie komisji, osadzenie w IDUB D12 / POB 6 i przedstawienie zespołu.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191919"/>
                </a:solidFill>
                <a:latin typeface="Calibri"/>
              </a:defRPr>
            </a:pPr>
            <a:r>
              <a:t>📝 SKRYPT PRELEGENCI (MÓW TO):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Dzień dobry Państwu. Nazywam się Patryk Pięta i w imieniu Koła Naukowego SENSOR mam zaszczyt przedstawić projekt pt. «Algorytm Neuro-Curiosity do optymalizacji strategii sterowania pojazdów autonomicznych». Projekt realizujemy pod opieką naukową profesora Krzysztofa Lalika w ramach grantu IDUB D12 w obszarze POB 6. Projekt integruje sztuczną inteligencję, przetwarzanie brzegowe oraz platformę Cyfrowego Bliźniaka do sterowania pojazdami w fabrykach Przemysłu 4.0.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pPr algn="l">
              <a:spcAft>
                <a:spcPts val="400"/>
              </a:spcAft>
              <a:defRPr sz="1300" b="1">
                <a:solidFill>
                  <a:srgbClr val="990000"/>
                </a:solidFill>
                <a:latin typeface="Calibri"/>
              </a:defRPr>
            </a:pPr>
            <a:r>
              <a:t>⏱ CZAS: 1:00 - 2:00 (60 sekund)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6633"/>
                </a:solidFill>
                <a:latin typeface="Calibri"/>
              </a:defRPr>
            </a:pPr>
            <a:r>
              <a:t>🎯 CEL SLAJDU: Wyjaśnienie 3 barier klasycznego RL: brak nagród w pustej hali, szum sensoryczny oraz ryzyko zniszczenia pojazdu.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191919"/>
                </a:solidFill>
                <a:latin typeface="Calibri"/>
              </a:defRPr>
            </a:pPr>
            <a:r>
              <a:t>📝 SKRYPT PRELEGENCI (MÓW TO):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Współczesna intralogistyka potrzebuje autonomicznych wózków AGV. Jednak klasyczne uczenie ze wzmocnieniem ma trzy fundamentalne wady. Po pierwsze: rzadkie nagrody – w pustej hali wózek błądzi losowo, bo nie ma żadnej nagrody dopóki przypadkowo nie trafi do celu. Po drugie: klątwa wielowymiarowości – chmury punktów z LiDAR-a gubią sieć neuronową w szumie. Po trzecie: eksploracja losowa w fabryce oznacza natychmiastowe kolizje i niszczenie przekładni przez szarpnięcia. Dlatego musieliśmy zmienić paradygmat sterowania.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pPr algn="l">
              <a:spcAft>
                <a:spcPts val="400"/>
              </a:spcAft>
              <a:defRPr sz="1300" b="1">
                <a:solidFill>
                  <a:srgbClr val="990000"/>
                </a:solidFill>
                <a:latin typeface="Calibri"/>
              </a:defRPr>
            </a:pPr>
            <a:r>
              <a:t>⏱ CZAS: 2:00 - 3:15 (75 sekund)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6633"/>
                </a:solidFill>
                <a:latin typeface="Calibri"/>
              </a:defRPr>
            </a:pPr>
            <a:r>
              <a:t>🎯 CEL SLAJDU: Prezentacja mechanizmu ICM: nagroda wewnętrzna z błędu predykcji oraz ignorowanie nieistotnego szumu tła.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191919"/>
                </a:solidFill>
                <a:latin typeface="Calibri"/>
              </a:defRPr>
            </a:pPr>
            <a:r>
              <a:t>📝 SKRYPT PRELEGENCI (MÓW TO):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Naszą odpowiedzią jest algorytm Neuro-Curiosity oparty na Intrinsic Curiosity Module. Zamiast czekać na rzadką nagrodę zewnętrzną, wózek jest motywowany ciekawością – dąży do zbadania stanów, których jeszcze nie zna. Model dynamiki w przód przewiduje kolejny odczyt sensorów. Jeśli sytuacja zaskakuje robota – generowana jest nagroda wewnętrzna. Z kolei moduł odwrotny eliminuje szum tła, dzięki czemu wózek nie zatrzymuje się na migających światłach czy nieistotnych detalach hali. Wynik to celowa, bezpieczna i szybka eksploracja.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pPr algn="l">
              <a:spcAft>
                <a:spcPts val="400"/>
              </a:spcAft>
              <a:defRPr sz="1300" b="1">
                <a:solidFill>
                  <a:srgbClr val="990000"/>
                </a:solidFill>
                <a:latin typeface="Calibri"/>
              </a:defRPr>
            </a:pPr>
            <a:r>
              <a:t>⏱ CZAS: 3:15 - 4:15 (60 sekund)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6633"/>
                </a:solidFill>
                <a:latin typeface="Calibri"/>
              </a:defRPr>
            </a:pPr>
            <a:r>
              <a:t>🎯 CEL SLAJDU: Wyjaśnienie metodyki Sim-to-Real: jak z wirtualnego symulatora przenieść sieć bezpośrednio na fizyczny robot.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191919"/>
                </a:solidFill>
                <a:latin typeface="Calibri"/>
              </a:defRPr>
            </a:pPr>
            <a:r>
              <a:t>📝 SKRYPT PRELEGENCI (MÓW TO):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Żeby nie niszczyć wózków podczas treningu, stosujemy trzystopniowy transfer Sim-to-Real. Najpierw uczymy agenta w symulatorze NVIDIA Isaac Sim z dokładną fizyką i promieniami LiDAR. Następnie stosujemy Domain Randomization – celowo rozstrajamy symulator, zmieniając tarcie posadzki, masy ładunku i opóźnienia magistrali. Dzięki temu sieć staje się niewrażliwa na różnice świata realnego. Krok trzeci to Zero-Shot Transfer – skompilowany model TensorRT uruchamiamy od razu na pokładzie wózka bez konieczności niebezpiecznych prób na żywej fabryce.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pPr algn="l">
              <a:spcAft>
                <a:spcPts val="400"/>
              </a:spcAft>
              <a:defRPr sz="1300" b="1">
                <a:solidFill>
                  <a:srgbClr val="990000"/>
                </a:solidFill>
                <a:latin typeface="Calibri"/>
              </a:defRPr>
            </a:pPr>
            <a:r>
              <a:t>⏱ CZAS: 4:15 - 5:45 (90 sekund) - NAJWAŻNIEJSZY SLAJD POKAZOWY!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6633"/>
                </a:solidFill>
                <a:latin typeface="Calibri"/>
              </a:defRPr>
            </a:pPr>
            <a:r>
              <a:t>🎯 CEL SLAJDU: Demonstracja działającego Cyfrowego Bliźniaka (wkład inżynierski Patryka Pięty), architektury Edge AI i telemetrii IIoT.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191919"/>
                </a:solidFill>
                <a:latin typeface="Calibri"/>
              </a:defRPr>
            </a:pPr>
            <a:r>
              <a:t>📝 SKRYPT PRELEGENCI (MÓW TO):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Na tym slajdzie widzimy działający prototyp Cyfrowego Bliźniaka, który opracowałem w ramach mojej pracy inżynierskiej we współpracy z zespołem Sensor. Po lewej stronie widać aplikację 3D w Three.js – arena 100x100 metrów, po której poruszają się wózki AGV. Pojazd AGV-01 sterowany jest naszym algorytmem Neuro-Curiosity, a AGV-02 klasyczną metodą bazową. Decyzje sterujące podejmuje komputer brzegowy NVIDIA Jetson Orin NX w czasie poniżej 15 milisekund. Cała telemetria – pozycje, LiDAR, przeciążenia – trafia przez Apache Kafka do TimescaleDB. To gotowa platforma do weryfikacji algorytmów przed ich wdrożeniem.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pPr algn="l">
              <a:spcAft>
                <a:spcPts val="400"/>
              </a:spcAft>
              <a:defRPr sz="1300" b="1">
                <a:solidFill>
                  <a:srgbClr val="990000"/>
                </a:solidFill>
                <a:latin typeface="Calibri"/>
              </a:defRPr>
            </a:pPr>
            <a:r>
              <a:t>⏱ CZAS: 5:45 - 7:00 (75 sekund)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6633"/>
                </a:solidFill>
                <a:latin typeface="Calibri"/>
              </a:defRPr>
            </a:pPr>
            <a:r>
              <a:t>🎯 CEL SLAJDU: Prezentacja metryk (droga bezkolizyjna, Jerk, konwergencja) oraz rygoru statystycznego wymaganego przez IDUB.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191919"/>
                </a:solidFill>
                <a:latin typeface="Calibri"/>
              </a:defRPr>
            </a:pPr>
            <a:r>
              <a:t>📝 SKRYPT PRELEGENCI (MÓW TO):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Projekt opiera się na twardych, mierzalnych danych. Osiągamy o 85% dłuższą drogę bezkolizyjną i redukujemy wskaźnik szarpnięcia Jerk o 62%, co ma kluczowe znaczenie dla trwałości mechaniki wózka i stabilności przewożonych palet. Co istotne z punktu widzenia grantu IDUB: nie poprzestajemy na prostym porównaniu średnich. Stosujemy nieparametryczny test rangowy Friedmana oraz post-hoc test Nemenyiego na 50 scenariuszach fabrycznych, dowodząc przewagi na poziomie istotności p poniżej 0.05.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pPr algn="l">
              <a:spcAft>
                <a:spcPts val="400"/>
              </a:spcAft>
              <a:defRPr sz="1300" b="1">
                <a:solidFill>
                  <a:srgbClr val="990000"/>
                </a:solidFill>
                <a:latin typeface="Calibri"/>
              </a:defRPr>
            </a:pPr>
            <a:r>
              <a:t>⏱ CZAS: 7:00 - 8:00 (60 sekund)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6633"/>
                </a:solidFill>
                <a:latin typeface="Calibri"/>
              </a:defRPr>
            </a:pPr>
            <a:r>
              <a:t>🎯 CEL SLAJDU: Zwięzły przegląd 4 kwartałów: od wirtualnego modelu po weryfikację na hali i publikacje.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191919"/>
                </a:solidFill>
                <a:latin typeface="Calibri"/>
              </a:defRPr>
            </a:pPr>
            <a:r>
              <a:t>📝 SKRYPT PRELEGENCI (MÓW TO):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Harmonogram projektu zaplanowaliśmy na cztery logiczne kwartały. W pierwszym kwartale modelujemy halę w Isaac Sim i wdrażamy moduł ICM. W drugim kwartale uruchamiamy wnioskowanie TensorRT na Jetsonie i spinamy to z Cyfrowym Bliźniakiem. Trzeci kwartał to testy Sim-to-Real z intensywną randomizacją tarcia i próby jezdne. Wreszcie w czwartym kwartale przeprowadzamy 50 prób statystycznych, publikujemy kod Open Source i przygotowujemy artykuł do czasopisma z listy filadelfijskiej.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pPr algn="l">
              <a:spcAft>
                <a:spcPts val="400"/>
              </a:spcAft>
              <a:defRPr sz="1300" b="1">
                <a:solidFill>
                  <a:srgbClr val="990000"/>
                </a:solidFill>
                <a:latin typeface="Calibri"/>
              </a:defRPr>
            </a:pPr>
            <a:r>
              <a:t>⏱ CZAS: 8:00 - 9:00 (60 sekund)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6633"/>
                </a:solidFill>
                <a:latin typeface="Calibri"/>
              </a:defRPr>
            </a:pPr>
            <a:r>
              <a:t>🎯 CEL SLAJDU: Podsumowanie budżetu (44 900 zł), sprzętu Jetson i planu upowszechniania w IEEE i czasopismach Q1.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191919"/>
                </a:solidFill>
                <a:latin typeface="Calibri"/>
              </a:defRPr>
            </a:pPr>
            <a:r>
              <a:t>📝 SKRYPT PRELEGENCI (MÓW TO):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Budżet projektu wynosi 44 900 złotych i jest zoptymalizowany pod kątem maksymalnego efektu naukowego. Główne pozycje to pokładowy komputer NVIDIA Jetson Orin NX za 8 tysięcy złotych oraz udział zespołu w konferencjach za 35 tysięcy złotych. Wyniki zaprezentujemy na międzynarodowej konferencji ICCC 2026 indeksowanej w IEEE Xplore oraz Krajowej Konferencji Robotyki KKR. Ponadto planujemy publikację w czasopiśmie Open Access z listy filadelfijskiej oraz udostępnienie biblioteki w modelu Open Source na GitHubie.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pPr algn="l">
              <a:spcAft>
                <a:spcPts val="400"/>
              </a:spcAft>
              <a:defRPr sz="1300" b="1">
                <a:solidFill>
                  <a:srgbClr val="990000"/>
                </a:solidFill>
                <a:latin typeface="Calibri"/>
              </a:defRPr>
            </a:pPr>
            <a:r>
              <a:t>⏱ CZAS: 9:00 - 10:00 (60 sekund)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06633"/>
                </a:solidFill>
                <a:latin typeface="Calibri"/>
              </a:defRPr>
            </a:pPr>
            <a:r>
              <a:t>🎯 CEL SLAJDU: Podsumowanie 3 filarów, podziękowanie komisji i zaproszenie do pytań oraz demonstracji na żywo.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191919"/>
                </a:solidFill>
                <a:latin typeface="Calibri"/>
              </a:defRPr>
            </a:pPr>
            <a:r>
              <a:t>📝 SKRYPT PRELEGENCI (MÓW TO):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Podsumowując nasze wystąpienie: algorytm Neuro-Curiosity rozwiązuje problem rzadkich nagród w robotyce magazynowej, technologia Sim-to-Real drastycznie obniża koszty wdrożenia i chroni sprzęt, a cały projekt jest wspaniałym przykładem współpracy studentów WIMiR i Wydziału Odlewnictwa w ramach priorytetu POB 6 AGH. Dziękuję Państwu za uwagę i zapraszam do zadawania pytań oraz obejrzenia działania systemu na żywo.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178" y="1236678"/>
            <a:ext cx="10075069" cy="2630781"/>
          </a:xfrm>
        </p:spPr>
        <p:txBody>
          <a:bodyPr anchor="b"/>
          <a:lstStyle>
            <a:lvl1pPr algn="ctr">
              <a:defRPr sz="6611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178" y="3968912"/>
            <a:ext cx="10075069" cy="1824404"/>
          </a:xfrm>
        </p:spPr>
        <p:txBody>
          <a:bodyPr/>
          <a:lstStyle>
            <a:lvl1pPr marL="0" indent="0" algn="ctr">
              <a:buNone/>
              <a:defRPr sz="2644"/>
            </a:lvl1pPr>
            <a:lvl2pPr marL="503743" indent="0" algn="ctr">
              <a:buNone/>
              <a:defRPr sz="2204"/>
            </a:lvl2pPr>
            <a:lvl3pPr marL="1007486" indent="0" algn="ctr">
              <a:buNone/>
              <a:defRPr sz="1983"/>
            </a:lvl3pPr>
            <a:lvl4pPr marL="1511229" indent="0" algn="ctr">
              <a:buNone/>
              <a:defRPr sz="1763"/>
            </a:lvl4pPr>
            <a:lvl5pPr marL="2014972" indent="0" algn="ctr">
              <a:buNone/>
              <a:defRPr sz="1763"/>
            </a:lvl5pPr>
            <a:lvl6pPr marL="2518715" indent="0" algn="ctr">
              <a:buNone/>
              <a:defRPr sz="1763"/>
            </a:lvl6pPr>
            <a:lvl7pPr marL="3022458" indent="0" algn="ctr">
              <a:buNone/>
              <a:defRPr sz="1763"/>
            </a:lvl7pPr>
            <a:lvl8pPr marL="3526201" indent="0" algn="ctr">
              <a:buNone/>
              <a:defRPr sz="1763"/>
            </a:lvl8pPr>
            <a:lvl9pPr marL="4029944" indent="0" algn="ctr">
              <a:buNone/>
              <a:defRPr sz="1763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76B77-A5BC-E6AA-75E9-7AEDE2C3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E9BA8-266F-457E-A8AD-E3696E97A32E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5F4B5-5CDB-0A7C-7A23-8186BF15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61B0-30A4-710A-BAB0-C9A933BD3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87C2C-4F80-4E60-AA6A-0A6683F16F17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37676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BBE88-7EAB-6E12-B34D-39ADFCDEE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E3E4D-68AE-461A-930E-4D88993A0010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BC6C2-0602-99CC-725B-CF7EB975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5DA16-9C35-28B9-A342-AF38E71E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1768D6-3008-409B-BC3C-A59BA9B66C78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596101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551" y="1883878"/>
            <a:ext cx="11586329" cy="3143294"/>
          </a:xfrm>
        </p:spPr>
        <p:txBody>
          <a:bodyPr anchor="b"/>
          <a:lstStyle>
            <a:lvl1pPr>
              <a:defRPr sz="6611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551" y="5056909"/>
            <a:ext cx="11586329" cy="1652984"/>
          </a:xfrm>
        </p:spPr>
        <p:txBody>
          <a:bodyPr/>
          <a:lstStyle>
            <a:lvl1pPr marL="0" indent="0">
              <a:buNone/>
              <a:defRPr sz="2644">
                <a:solidFill>
                  <a:schemeClr val="tx1">
                    <a:tint val="75000"/>
                  </a:schemeClr>
                </a:solidFill>
              </a:defRPr>
            </a:lvl1pPr>
            <a:lvl2pPr marL="503743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2pPr>
            <a:lvl3pPr marL="1007486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3pPr>
            <a:lvl4pPr marL="151122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972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8715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245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620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9944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B16A8-FF88-B6F9-B396-181EE3C46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EF41CA-5D4F-4AD9-BD4E-0B09A3C89D95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B80AF-CD05-A2D8-C3DB-5109A6AB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584D0-6716-7F57-5A73-671B1B30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E2E1B-B2D2-4D2C-9666-3463056A3062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366948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548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0671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9F5B48-B6D5-2B4C-CA4A-1AC2009D1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EF0C8-02E9-4653-9C25-6FD7924F4887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BC5D14-B29D-CA5A-813F-16C3A417A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9A5F82C-D52C-D78C-D558-513B4AD6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40A1D-2C4F-4423-BBFE-182E7C2811A9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754569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402314"/>
            <a:ext cx="11586329" cy="146057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98" y="1852393"/>
            <a:ext cx="5682968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298" y="2760222"/>
            <a:ext cx="5682968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0672" y="1852393"/>
            <a:ext cx="5710955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0672" y="2760222"/>
            <a:ext cx="5710955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D473F65-C1FD-C952-FEC8-DA70CFD23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92198-A0E4-41E6-A3C7-B8D1F909F3B6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E9678FE-80DF-500A-0C62-7B7DE3F2E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FF1AE81-4DD5-C280-2C50-F59CF054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2B6D6-56CF-4D80-AF19-6B9800527540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7075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1399281-3289-7D6D-3C52-8AF3DA18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BBF0B-8925-4E35-9B6D-3DA90E80EE5B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59C796-9B9D-DD27-9906-16C5C5DE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DB07CE-0D29-FE6C-43A6-170042EC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3BDFD-003B-4740-91B4-218C85727B8E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344553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B225C41-3B6B-E51B-D8D6-C6A50E23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622E0-ECAC-48B9-9568-EB1A2FADCC8C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AFF961C-C368-5ABB-FD0C-A1F2145CF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856365-52F5-2418-49E7-4F2BF2F7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76D92-A2F0-4970-8D3B-680979692950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9292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0956" y="1087996"/>
            <a:ext cx="6800671" cy="5370013"/>
          </a:xfrm>
        </p:spPr>
        <p:txBody>
          <a:bodyPr/>
          <a:lstStyle>
            <a:lvl1pPr>
              <a:defRPr sz="3526"/>
            </a:lvl1pPr>
            <a:lvl2pPr>
              <a:defRPr sz="3085"/>
            </a:lvl2pPr>
            <a:lvl3pPr>
              <a:defRPr sz="2644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25EA723-1DA9-7F7B-1AD7-28A8FF22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467AB-5CFA-44E9-8B76-CAD7A4A701F1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ABF8248-DAB1-997D-BA03-C5C55350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77786D-A942-0124-E8A7-FBD2AC53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AB47-90AC-4810-914E-ED17D42A21B8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081236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0956" y="1087996"/>
            <a:ext cx="6800671" cy="5370013"/>
          </a:xfrm>
        </p:spPr>
        <p:txBody>
          <a:bodyPr rtlCol="0">
            <a:normAutofit/>
          </a:bodyPr>
          <a:lstStyle>
            <a:lvl1pPr marL="0" indent="0">
              <a:buNone/>
              <a:defRPr sz="3526"/>
            </a:lvl1pPr>
            <a:lvl2pPr marL="503743" indent="0">
              <a:buNone/>
              <a:defRPr sz="3085"/>
            </a:lvl2pPr>
            <a:lvl3pPr marL="1007486" indent="0">
              <a:buNone/>
              <a:defRPr sz="2644"/>
            </a:lvl3pPr>
            <a:lvl4pPr marL="1511229" indent="0">
              <a:buNone/>
              <a:defRPr sz="2204"/>
            </a:lvl4pPr>
            <a:lvl5pPr marL="2014972" indent="0">
              <a:buNone/>
              <a:defRPr sz="2204"/>
            </a:lvl5pPr>
            <a:lvl6pPr marL="2518715" indent="0">
              <a:buNone/>
              <a:defRPr sz="2204"/>
            </a:lvl6pPr>
            <a:lvl7pPr marL="3022458" indent="0">
              <a:buNone/>
              <a:defRPr sz="2204"/>
            </a:lvl7pPr>
            <a:lvl8pPr marL="3526201" indent="0">
              <a:buNone/>
              <a:defRPr sz="2204"/>
            </a:lvl8pPr>
            <a:lvl9pPr marL="4029944" indent="0">
              <a:buNone/>
              <a:defRPr sz="2204"/>
            </a:lvl9pPr>
          </a:lstStyle>
          <a:p>
            <a:pPr lvl="0"/>
            <a:r>
              <a:rPr lang="pl-PL" noProof="0"/>
              <a:t>Kliknij ikonę, aby dodać obraz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7C84A85-BE10-755E-C51D-6FA6D97D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7EC56-B98B-4166-BD2D-1152FFF553F5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19EC81-9318-7513-2A88-F0DFE9D3A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B200AA-6447-32E0-FF37-3074307B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B5458-CEE6-44EE-9128-3730EB91AFB7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38393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8096-8B79-AD23-B6B4-C1041939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8B7D7-C8E3-4F2C-9A34-5D91CF91A12D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8EFD0-C830-B116-0BE1-F4C16EDBD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B71E8-CCE5-CED2-4001-BF73C765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FACA48-CD1D-4520-A464-CA31FC687A06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30519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3295" y="402314"/>
            <a:ext cx="2896582" cy="640378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548" y="402314"/>
            <a:ext cx="8521829" cy="640378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FBF3-6B5A-1010-D882-326DEBF5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407CC-BA33-4E60-86B1-7B52A01DBD6F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6C001-CD79-0AC6-0857-00BAB58EA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09FA7-B61C-8AAA-36F3-566853B7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BC7B3-7EE5-4AE2-AADE-2AEBE476AFC0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198493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178" y="1236678"/>
            <a:ext cx="10075069" cy="2630781"/>
          </a:xfrm>
        </p:spPr>
        <p:txBody>
          <a:bodyPr anchor="b"/>
          <a:lstStyle>
            <a:lvl1pPr algn="ctr">
              <a:defRPr sz="6611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178" y="3968912"/>
            <a:ext cx="10075069" cy="1824404"/>
          </a:xfrm>
        </p:spPr>
        <p:txBody>
          <a:bodyPr/>
          <a:lstStyle>
            <a:lvl1pPr marL="0" indent="0" algn="ctr">
              <a:buNone/>
              <a:defRPr sz="2644"/>
            </a:lvl1pPr>
            <a:lvl2pPr marL="503743" indent="0" algn="ctr">
              <a:buNone/>
              <a:defRPr sz="2204"/>
            </a:lvl2pPr>
            <a:lvl3pPr marL="1007486" indent="0" algn="ctr">
              <a:buNone/>
              <a:defRPr sz="1983"/>
            </a:lvl3pPr>
            <a:lvl4pPr marL="1511229" indent="0" algn="ctr">
              <a:buNone/>
              <a:defRPr sz="1763"/>
            </a:lvl4pPr>
            <a:lvl5pPr marL="2014972" indent="0" algn="ctr">
              <a:buNone/>
              <a:defRPr sz="1763"/>
            </a:lvl5pPr>
            <a:lvl6pPr marL="2518715" indent="0" algn="ctr">
              <a:buNone/>
              <a:defRPr sz="1763"/>
            </a:lvl6pPr>
            <a:lvl7pPr marL="3022458" indent="0" algn="ctr">
              <a:buNone/>
              <a:defRPr sz="1763"/>
            </a:lvl7pPr>
            <a:lvl8pPr marL="3526201" indent="0" algn="ctr">
              <a:buNone/>
              <a:defRPr sz="1763"/>
            </a:lvl8pPr>
            <a:lvl9pPr marL="4029944" indent="0" algn="ctr">
              <a:buNone/>
              <a:defRPr sz="1763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5EA0E-E124-FBD0-781F-665B492DF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BF91FF-C535-4D5D-BC2B-5DF80B70956B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75F7A-BB53-D03B-42ED-061ED1415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7333C-A04E-E0CA-727D-3EB1DC83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A4D170-B417-4389-90C4-69EC5B7B6FF9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746828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600" y="401638"/>
            <a:ext cx="10544400" cy="14605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67C0B-1E8D-5A23-7BC7-29346E42D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932E-24C7-47C7-8A54-3CE11A7B6972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F50ED-0658-C2C7-68F0-15CC7F9D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1DF61-0C99-5B23-7B84-4D3CE19EF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4B60BB-8242-4D33-BCD0-13C8BE95D863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289064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551" y="1883878"/>
            <a:ext cx="11586329" cy="3143294"/>
          </a:xfrm>
        </p:spPr>
        <p:txBody>
          <a:bodyPr anchor="b"/>
          <a:lstStyle>
            <a:lvl1pPr>
              <a:defRPr sz="6611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551" y="5056909"/>
            <a:ext cx="11586329" cy="1652984"/>
          </a:xfrm>
        </p:spPr>
        <p:txBody>
          <a:bodyPr/>
          <a:lstStyle>
            <a:lvl1pPr marL="0" indent="0">
              <a:buNone/>
              <a:defRPr sz="2644">
                <a:solidFill>
                  <a:schemeClr val="tx1">
                    <a:tint val="75000"/>
                  </a:schemeClr>
                </a:solidFill>
              </a:defRPr>
            </a:lvl1pPr>
            <a:lvl2pPr marL="503743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2pPr>
            <a:lvl3pPr marL="1007486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3pPr>
            <a:lvl4pPr marL="151122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972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8715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245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620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9944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E669-4250-0D9C-559A-7C8D1D36D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4F390-5921-4AFF-8417-BA8C5ECF4980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BC2F9-7F2E-905D-21C9-13C7152A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C4CED-F7AB-357C-041A-3F7B0C66A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7847F-7AA4-4D9A-9841-0A35CF3E9796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356337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548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0671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AE117E0-57FC-125B-0E00-CCA3589E9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C7765-75A3-4597-B7BD-EE59A4859598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B6678F-130E-D7AB-B34E-7F90F59D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B537CC-6B57-F6DE-2B95-3E58177A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C05F3-373D-44FE-ADA6-F14C43C803FF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650285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402314"/>
            <a:ext cx="11586329" cy="146057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98" y="1852393"/>
            <a:ext cx="5682968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298" y="2760222"/>
            <a:ext cx="5682968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0672" y="1852393"/>
            <a:ext cx="5710955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0672" y="2760222"/>
            <a:ext cx="5710955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34936DB-DA6E-2A26-32DF-A00784B0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155E9-1EAD-4290-A1F9-EDA1D58AE51F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94A8499-FC93-FE61-F81D-69940E05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3C9CE9-BA61-ED41-21E9-5AF8507E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39746-A6A0-44B3-BFA0-B7DE3FF2377E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630809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BC2DCC5-4D9F-31EF-18CF-D1144055F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5FE7F-5F44-448A-8F4D-43B868533C81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234EEC3-47A7-A55D-E304-AE3985573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BF6CA8A-20E1-EDB6-E885-346DD0D32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4BD495-5C4B-4755-A2A4-5499BB65CF64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5486222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333AF13-DB22-32DE-4343-E69842AF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A7F7C-71C9-49AC-88DF-F4078B207D3C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C6E2D93-5D29-7AB6-245B-6EE45B5EC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93CD6E-0107-2544-7EAA-74142190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6F00F-F475-4F85-8EF5-742E911FD48C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6811576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0956" y="1087996"/>
            <a:ext cx="6800671" cy="5370013"/>
          </a:xfrm>
        </p:spPr>
        <p:txBody>
          <a:bodyPr/>
          <a:lstStyle>
            <a:lvl1pPr>
              <a:defRPr sz="3526"/>
            </a:lvl1pPr>
            <a:lvl2pPr>
              <a:defRPr sz="3085"/>
            </a:lvl2pPr>
            <a:lvl3pPr>
              <a:defRPr sz="2644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252FD06-2344-159A-F8FD-C52AF5296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B4242-C5AE-4243-AB71-BAD583128A4A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FC9704-4B26-FAC5-B4C4-0C1EEE01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AECF06-263B-7992-5D69-51556A844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66485-3924-471E-8588-FE6979DFB570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692078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0956" y="1087996"/>
            <a:ext cx="6800671" cy="5370013"/>
          </a:xfrm>
        </p:spPr>
        <p:txBody>
          <a:bodyPr rtlCol="0">
            <a:normAutofit/>
          </a:bodyPr>
          <a:lstStyle>
            <a:lvl1pPr marL="0" indent="0">
              <a:buNone/>
              <a:defRPr sz="3526"/>
            </a:lvl1pPr>
            <a:lvl2pPr marL="503743" indent="0">
              <a:buNone/>
              <a:defRPr sz="3085"/>
            </a:lvl2pPr>
            <a:lvl3pPr marL="1007486" indent="0">
              <a:buNone/>
              <a:defRPr sz="2644"/>
            </a:lvl3pPr>
            <a:lvl4pPr marL="1511229" indent="0">
              <a:buNone/>
              <a:defRPr sz="2204"/>
            </a:lvl4pPr>
            <a:lvl5pPr marL="2014972" indent="0">
              <a:buNone/>
              <a:defRPr sz="2204"/>
            </a:lvl5pPr>
            <a:lvl6pPr marL="2518715" indent="0">
              <a:buNone/>
              <a:defRPr sz="2204"/>
            </a:lvl6pPr>
            <a:lvl7pPr marL="3022458" indent="0">
              <a:buNone/>
              <a:defRPr sz="2204"/>
            </a:lvl7pPr>
            <a:lvl8pPr marL="3526201" indent="0">
              <a:buNone/>
              <a:defRPr sz="2204"/>
            </a:lvl8pPr>
            <a:lvl9pPr marL="4029944" indent="0">
              <a:buNone/>
              <a:defRPr sz="2204"/>
            </a:lvl9pPr>
          </a:lstStyle>
          <a:p>
            <a:pPr lvl="0"/>
            <a:r>
              <a:rPr lang="pl-PL" noProof="0"/>
              <a:t>Kliknij ikonę, aby dodać obraz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17F654-E9BA-5478-D77E-203B6DD34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BF0E64-07EF-48C5-9556-D6634696B61A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462296-3D6F-6CAC-76C5-368E71814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B9750F1-C725-1243-2112-8B9657DA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F88A59-D602-4DB7-B30A-6D21DE0EB471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6711410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3CA98-09A8-2492-186A-3B25E3D1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74F13E-5155-416A-BB8D-5221D49CD642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AB6B2-08A8-8184-6A7E-B5D90BD0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9F1B9-5AF7-2176-B7FF-404A043B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CFEB9-02CA-4ED2-80C4-FACB98514D3E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3887340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3295" y="402314"/>
            <a:ext cx="2896582" cy="640378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548" y="402314"/>
            <a:ext cx="8521829" cy="640378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8F0CE-48AB-1D41-CE4C-0B132105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866E0-CE65-41CC-B06A-98A01098968A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506EC-46F3-BC39-65CB-6089E34C5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D458-F367-31E0-F6C5-043DDD81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733F6-9D88-4004-9C02-5DA0439FDB8A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6745885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F69428B-D8C1-1CB1-9052-12EFF7F28D7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</a:t>
            </a:r>
            <a:endParaRPr lang="en-US" altLang="pl-PL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637EF41-7916-0E55-5B38-82F8BB9330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23925" y="2011363"/>
            <a:ext cx="1158557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  <a:endParaRPr lang="en-US" alt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5F847-E1A2-36BA-C7CD-79C0869B86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25" y="7004050"/>
            <a:ext cx="3022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4CE4B53-5155-49DE-B2D1-BCFD4E4D67CA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AB1D7-21E3-2EE7-48CF-2CB88695C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763" y="7004050"/>
            <a:ext cx="45339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3E939-40D0-BEC3-9908-BCCB22ECB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86900" y="7004050"/>
            <a:ext cx="3022600" cy="401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DF7626E-F54A-4CB1-96D0-081EFFE8F8FB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2pPr>
      <a:lvl3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3pPr>
      <a:lvl4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4pPr>
      <a:lvl5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50825" indent="-250825" algn="l" defTabSz="1006475" rtl="0" eaLnBrk="0" fontAlgn="base" hangingPunct="0">
        <a:lnSpc>
          <a:spcPct val="90000"/>
        </a:lnSpc>
        <a:spcBef>
          <a:spcPts val="11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0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2125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2653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770586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274329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778072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281815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43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486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229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4972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715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458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201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29944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4E878DE8-B5A4-1BF1-C776-C5969401A8A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</a:t>
            </a:r>
            <a:endParaRPr lang="en-US" altLang="pl-PL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ED8694F3-91DE-4AD2-17C0-137E7F10F4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23925" y="2011363"/>
            <a:ext cx="1158557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  <a:endParaRPr lang="en-US" alt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EC368-7137-1DFA-31DA-D581BDE99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25" y="7004050"/>
            <a:ext cx="3022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D1A63EB-8F1B-4796-9E8F-5BE836CDC234}" type="datetimeFigureOut">
              <a:rPr lang="en-US"/>
              <a:pPr>
                <a:defRPr/>
              </a:pPr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376C7-F28C-8362-5F4C-C28848B5BD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763" y="7004050"/>
            <a:ext cx="45339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6F13A-D80B-976E-4ECC-9C4B76D6E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86900" y="7004050"/>
            <a:ext cx="3022600" cy="401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A32C780-685E-4C24-BE47-A8A835C83BDB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2pPr>
      <a:lvl3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3pPr>
      <a:lvl4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4pPr>
      <a:lvl5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50825" indent="-250825" algn="l" defTabSz="1006475" rtl="0" eaLnBrk="0" fontAlgn="base" hangingPunct="0">
        <a:lnSpc>
          <a:spcPct val="90000"/>
        </a:lnSpc>
        <a:spcBef>
          <a:spcPts val="11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0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2125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2653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770586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274329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778072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281815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43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486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229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4972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715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458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201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29944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F9918B1A-F433-5034-226F-5A7B8785FB69}"/>
              </a:ext>
            </a:extLst>
          </p:cNvPr>
          <p:cNvSpPr>
            <a:spLocks/>
          </p:cNvSpPr>
          <p:nvPr/>
        </p:nvSpPr>
        <p:spPr bwMode="auto">
          <a:xfrm>
            <a:off x="3291840" y="1645920"/>
            <a:ext cx="7772400" cy="128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wrap="squar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algn="l">
              <a:spcAft>
                <a:spcPts val="200"/>
              </a:spcAft>
              <a:defRPr sz="2800" b="1">
                <a:solidFill>
                  <a:srgbClr val="191919"/>
                </a:solidFill>
                <a:latin typeface="Calibri"/>
              </a:defRPr>
            </a:pPr>
            <a:r>
              <a:t>Algorytm „Neuro-Curiosity”</a:t>
            </a:r>
            <a:endParaRPr lang="en-US" altLang="pl-PL" sz="3200"/>
          </a:p>
          <a:p>
            <a:pPr algn="l">
              <a:spcAft>
                <a:spcPts val="0"/>
              </a:spcAft>
              <a:defRPr sz="2100" b="1">
                <a:solidFill>
                  <a:srgbClr val="990000"/>
                </a:solidFill>
                <a:latin typeface="Calibri"/>
              </a:defRPr>
            </a:pPr>
            <a:r>
              <a:t>do optymalizacji strategii sterowania pojazdów autonomicznych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BED88773-34FF-5715-264E-12601F55D8C3}"/>
              </a:ext>
            </a:extLst>
          </p:cNvPr>
          <p:cNvSpPr>
            <a:spLocks/>
          </p:cNvSpPr>
          <p:nvPr/>
        </p:nvSpPr>
        <p:spPr bwMode="auto">
          <a:xfrm>
            <a:off x="3291840" y="3017520"/>
            <a:ext cx="7772400" cy="731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algn="l">
              <a:spcAft>
                <a:spcPts val="200"/>
              </a:spcAft>
              <a:defRPr sz="1300" b="1">
                <a:solidFill>
                  <a:srgbClr val="006633"/>
                </a:solidFill>
                <a:latin typeface="Calibri"/>
              </a:defRPr>
            </a:pPr>
            <a:r>
              <a:t>PROGRAM INICJATYWA DOSKONAŁOŚCI – UCZELNIA BADAWCZA (IDUB)</a:t>
            </a:r>
            <a:endParaRPr lang="en-US" altLang="pl-PL" sz="1600">
              <a:solidFill>
                <a:srgbClr val="808080"/>
              </a:solidFill>
            </a:endParaRPr>
          </a:p>
          <a:p>
            <a:pPr algn="l">
              <a:spcAft>
                <a:spcPts val="0"/>
              </a:spcAft>
              <a:defRPr sz="1200" b="0">
                <a:solidFill>
                  <a:srgbClr val="5A5F64"/>
                </a:solidFill>
                <a:latin typeface="Calibri"/>
              </a:defRPr>
            </a:pPr>
            <a:r>
              <a:t>Działanie D12: Wsparcie Kół Naukowych | POB 6: Inteligentne techniki informacyjne i sterowania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A7E60247-E94E-65E4-BBBA-3BDC4AC33C83}"/>
              </a:ext>
            </a:extLst>
          </p:cNvPr>
          <p:cNvSpPr>
            <a:spLocks/>
          </p:cNvSpPr>
          <p:nvPr/>
        </p:nvSpPr>
        <p:spPr bwMode="auto">
          <a:xfrm>
            <a:off x="3291840" y="3840480"/>
            <a:ext cx="7772400" cy="731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wrap="squar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algn="l">
              <a:spcAft>
                <a:spcPts val="200"/>
              </a:spcAft>
              <a:defRPr sz="1300" b="1">
                <a:solidFill>
                  <a:srgbClr val="191919"/>
                </a:solidFill>
                <a:latin typeface="Calibri"/>
              </a:defRPr>
            </a:pPr>
            <a:r>
              <a:t>Akademia Górniczo-Hutnicza im. Stanisława Staszica w Krakowie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A5F64"/>
                </a:solidFill>
                <a:latin typeface="Calibri"/>
              </a:defRPr>
            </a:pPr>
            <a:r>
              <a:t>Koło Naukowe SENSOR • WIMiR &amp; Wydział Odlewnictwa (Przemysł 4.0)</a:t>
            </a:r>
          </a:p>
        </p:txBody>
      </p:sp>
      <p:sp>
        <p:nvSpPr>
          <p:cNvPr id="5125" name="pole tekstowe 1">
            <a:extLst>
              <a:ext uri="{FF2B5EF4-FFF2-40B4-BE49-F238E27FC236}">
                <a16:creationId xmlns:a16="http://schemas.microsoft.com/office/drawing/2014/main" id="{8D9BE915-A55A-4DA9-73CA-E97AB9E94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" y="5440680"/>
            <a:ext cx="7315200" cy="1051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l">
              <a:spcAft>
                <a:spcPts val="200"/>
              </a:spcAft>
              <a:defRPr sz="1300" b="1">
                <a:solidFill>
                  <a:srgbClr val="191919"/>
                </a:solidFill>
                <a:latin typeface="Calibri"/>
              </a:defRPr>
            </a:pPr>
            <a:r>
              <a:t>Opiekun projektu: dr hab. inż. Krzysztof Lalik, prof. AGH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5A5F64"/>
                </a:solidFill>
                <a:latin typeface="Calibri"/>
              </a:defRPr>
            </a:pPr>
            <a:r>
              <a:t>Prezenter: Patryk Pięta (Cyfrowy Bliźniak) | Zespół: R. Homa, Z. Tatar, J. Pryma, M. Bednarczyk i in.</a:t>
            </a:r>
          </a:p>
        </p:txBody>
      </p:sp>
      <p:pic>
        <p:nvPicPr>
          <p:cNvPr id="2" name="Obraz 1" descr="Obraz zawierający rysowanie, szkic, sztuka, symbol&#10;&#10;Zawartość wygenerowana przez AI może być niepoprawna.">
            <a:extLst>
              <a:ext uri="{FF2B5EF4-FFF2-40B4-BE49-F238E27FC236}">
                <a16:creationId xmlns:a16="http://schemas.microsoft.com/office/drawing/2014/main" id="{4E151ED1-E252-7049-52A1-49AF3D438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833" y="743298"/>
            <a:ext cx="2237250" cy="2503855"/>
          </a:xfrm>
          <a:prstGeom prst="rect">
            <a:avLst/>
          </a:prstGeom>
        </p:spPr>
      </p:pic>
      <p:pic>
        <p:nvPicPr>
          <p:cNvPr id="3" name="Obraz 2" descr="Obraz zawierający krąg, design&#10;&#10;Zawartość wygenerowana przez AI może być niepoprawna.">
            <a:extLst>
              <a:ext uri="{FF2B5EF4-FFF2-40B4-BE49-F238E27FC236}">
                <a16:creationId xmlns:a16="http://schemas.microsoft.com/office/drawing/2014/main" id="{DD54D97F-6305-DB50-44CC-C8334A327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070" y="4657857"/>
            <a:ext cx="2876660" cy="1752600"/>
          </a:xfrm>
          <a:prstGeom prst="rect">
            <a:avLst/>
          </a:prstGeom>
        </p:spPr>
      </p:pic>
      <p:sp>
        <p:nvSpPr>
          <p:cNvPr id="5126" name="Rectangle 5125"/>
          <p:cNvSpPr/>
          <p:nvPr/>
        </p:nvSpPr>
        <p:spPr>
          <a:xfrm>
            <a:off x="10195560" y="2697480"/>
            <a:ext cx="3246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191919"/>
                </a:solidFill>
                <a:latin typeface="Calibri"/>
              </a:defRPr>
            </a:pPr>
            <a:r>
              <a:t>PROJEKT FINANSOWANY ZE ŚRODKÓW IDUB D12 AGH</a:t>
            </a:r>
          </a:p>
          <a:p>
            <a:pPr algn="ctr">
              <a:spcAft>
                <a:spcPts val="0"/>
              </a:spcAft>
              <a:defRPr sz="900" b="1">
                <a:solidFill>
                  <a:srgbClr val="990000"/>
                </a:solidFill>
                <a:latin typeface="Calibri"/>
              </a:defRPr>
            </a:pPr>
            <a:r>
              <a:t>POB 6 • EDYCJA VI 2025/2026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20040"/>
            <a:ext cx="10789920" cy="1188720"/>
          </a:xfrm>
        </p:spPr>
        <p:txBody>
          <a:bodyPr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990000"/>
                </a:solidFill>
                <a:latin typeface="Calibri"/>
              </a:defRPr>
            </a:pPr>
            <a:r>
              <a:t>PROBLEM BADAWCZY</a:t>
            </a:r>
          </a:p>
          <a:p>
            <a:pPr algn="l">
              <a:spcAft>
                <a:spcPts val="0"/>
              </a:spcAft>
              <a:defRPr sz="2200" b="1">
                <a:solidFill>
                  <a:srgbClr val="191919"/>
                </a:solidFill>
                <a:latin typeface="Calibri"/>
              </a:defRPr>
            </a:pPr>
            <a:r>
              <a:t>Dlaczego tradycyjne uczenie (RL) zawodzi w magazynie?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91640"/>
            <a:ext cx="51206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  <a:defRPr sz="1400" b="1">
                <a:solidFill>
                  <a:srgbClr val="990000"/>
                </a:solidFill>
                <a:latin typeface="Calibri"/>
              </a:defRPr>
            </a:pPr>
            <a:r>
              <a:t>1. Rzadkie nagrody (Sparse Rewards)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Brak informacji zwrotnej w hali magazynowej przed dotarciem do celu.</a:t>
            </a:r>
            <a:br/>
            <a:r>
              <a:t>• Agent wykonuje miliony bezużytecznych, losowych ruchów.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246120"/>
            <a:ext cx="51206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  <a:defRPr sz="1400" b="1">
                <a:solidFill>
                  <a:srgbClr val="990000"/>
                </a:solidFill>
                <a:latin typeface="Calibri"/>
              </a:defRPr>
            </a:pPr>
            <a:r>
              <a:t>2. Klątwa wielowymiarowości chmur LiDAR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Tysiące punktów laserowych tworzą gigantyczną przestrzeń stanów.</a:t>
            </a:r>
            <a:br/>
            <a:r>
              <a:t>• Szum otoczenia i odblaski zakłócają klasyczną eksplorację.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800600"/>
            <a:ext cx="51206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  <a:defRPr sz="1400" b="1">
                <a:solidFill>
                  <a:srgbClr val="990000"/>
                </a:solidFill>
                <a:latin typeface="Calibri"/>
              </a:defRPr>
            </a:pPr>
            <a:r>
              <a:t>3. Eksploracja ε-greedy niszczy sprzęt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Losowe zwroty grożą zderzeniami z regałami i pracownikami.</a:t>
            </a:r>
            <a:br/>
            <a:r>
              <a:t>• Wysokie szarpnięcie (Jerk) powoduje przeciążenia i zużycie napędów.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6583680" cy="448056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8C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🖼 MIEJSCE NA GRAFIKĘ: Tradycyjna eksploracja ε-greedy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5A5F64"/>
                </a:solidFill>
                <a:latin typeface="Calibri"/>
              </a:defRPr>
            </a:pPr>
            <a:r>
              <a:t>Wklej zrzut ekranu lub animację błądzenia losowego AGV i ryzyka kolizji</a:t>
            </a:r>
            <a:br/>
            <a:r>
              <a:t>(Wstawianie -&gt; Obrazy / Wideo)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20040"/>
            <a:ext cx="10789920" cy="1188720"/>
          </a:xfrm>
        </p:spPr>
        <p:txBody>
          <a:bodyPr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990000"/>
                </a:solidFill>
                <a:latin typeface="Calibri"/>
              </a:defRPr>
            </a:pPr>
            <a:r>
              <a:t>ISTOTA INNOWACJI</a:t>
            </a:r>
          </a:p>
          <a:p>
            <a:pPr algn="l">
              <a:spcAft>
                <a:spcPts val="0"/>
              </a:spcAft>
              <a:defRPr sz="2200" b="1">
                <a:solidFill>
                  <a:srgbClr val="191919"/>
                </a:solidFill>
                <a:latin typeface="Calibri"/>
              </a:defRPr>
            </a:pPr>
            <a:r>
              <a:t>Wewnętrzna motywacja w sterowaniu: Architektura ICM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91640"/>
            <a:ext cx="5120640" cy="1371600"/>
          </a:xfrm>
          <a:prstGeom prst="roundRect">
            <a:avLst/>
          </a:prstGeom>
          <a:solidFill>
            <a:srgbClr val="F0F9F4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  <a:defRPr sz="1400" b="1">
                <a:solidFill>
                  <a:srgbClr val="006633"/>
                </a:solidFill>
                <a:latin typeface="Calibri"/>
              </a:defRPr>
            </a:pPr>
            <a:r>
              <a:t>Ciekawość poznawcza (Neuro-Curiosity)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Robot dąży do stanów, których jeszcze NIE potrafi przewidzieć.</a:t>
            </a:r>
            <a:br/>
            <a:r>
              <a:t>• Wewnętrzna nagroda: r_i = ||s_pred - s_{t+1}||² (błąd predykcji).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246120"/>
            <a:ext cx="51206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  <a:defRPr sz="1400" b="1">
                <a:solidFill>
                  <a:srgbClr val="191919"/>
                </a:solidFill>
                <a:latin typeface="Calibri"/>
              </a:defRPr>
            </a:pPr>
            <a:r>
              <a:t>Model dynamiki w przód (Forward Dynamics)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Przewiduje przyszły stan sensora na podstawie akcji: f(s_t, a_t).</a:t>
            </a:r>
            <a:br/>
            <a:r>
              <a:t>• Samosuperwizowana nauka bez ręcznego 'reward shapingu'.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800600"/>
            <a:ext cx="51206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  <a:defRPr sz="1400" b="1">
                <a:solidFill>
                  <a:srgbClr val="191919"/>
                </a:solidFill>
                <a:latin typeface="Calibri"/>
              </a:defRPr>
            </a:pPr>
            <a:r>
              <a:t>Inverse Model (Filtracja szumu otoczenia)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Usuwa 'problem migoczącego ekranu' (niezależne zmiany tła).</a:t>
            </a:r>
            <a:br/>
            <a:r>
              <a:t>• Agent skupia się wyłącznie na cechach, na które MA realny wpływ.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6583680" cy="448056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8C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🖼 SCHEMAT BLOKOWY: Architektura modułu ICM / Neuro-Curiosity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5A5F64"/>
                </a:solidFill>
                <a:latin typeface="Calibri"/>
              </a:defRPr>
            </a:pPr>
            <a:r>
              <a:t>Wklej schemat sieci neuronowej: Stan s_t, Akcja a_t -&gt; Forward Model -&gt; r_i</a:t>
            </a:r>
            <a:br/>
            <a:r>
              <a:t>(Możesz użyć schematu z wniosku grantowego lub grafiki wektorowej)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20040"/>
            <a:ext cx="10789920" cy="1188720"/>
          </a:xfrm>
        </p:spPr>
        <p:txBody>
          <a:bodyPr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990000"/>
                </a:solidFill>
                <a:latin typeface="Calibri"/>
              </a:defRPr>
            </a:pPr>
            <a:r>
              <a:t>METODOLOGIA BADAŃ</a:t>
            </a:r>
          </a:p>
          <a:p>
            <a:pPr algn="l">
              <a:spcAft>
                <a:spcPts val="0"/>
              </a:spcAft>
              <a:defRPr sz="2200" b="1">
                <a:solidFill>
                  <a:srgbClr val="191919"/>
                </a:solidFill>
                <a:latin typeface="Calibri"/>
              </a:defRPr>
            </a:pPr>
            <a:r>
              <a:t>Transfer Sim-to-Real i Domain Randomization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91640"/>
            <a:ext cx="38404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400" b="1">
                <a:solidFill>
                  <a:srgbClr val="0D47A1"/>
                </a:solidFill>
                <a:latin typeface="Calibri"/>
              </a:defRPr>
            </a:pPr>
            <a:r>
              <a:t>1. NVIDIA Isaac Sim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Fotorealistyczna fizyka PhysX &amp; RTX.</a:t>
            </a:r>
            <a:br/>
            <a:r>
              <a:t>• Masowy, równoległy trening floty w chmurze.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691640"/>
            <a:ext cx="38404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400" b="1">
                <a:solidFill>
                  <a:srgbClr val="0D47A1"/>
                </a:solidFill>
                <a:latin typeface="Calibri"/>
              </a:defRPr>
            </a:pPr>
            <a:r>
              <a:t>2. Domain Randomization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Zmienne tarcie kół (μ: 0.35-0.95), masa palet.</a:t>
            </a:r>
            <a:br/>
            <a:r>
              <a:t>• Syntetyczny jitter i szum sensoryczny LiDAR.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15400" y="1691640"/>
            <a:ext cx="38404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400" b="1">
                <a:solidFill>
                  <a:srgbClr val="0D47A1"/>
                </a:solidFill>
                <a:latin typeface="Calibri"/>
              </a:defRPr>
            </a:pPr>
            <a:r>
              <a:t>3. Zero-Shot Transfer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Eksport do formatu TensorRT na Jetson Orin.</a:t>
            </a:r>
            <a:br/>
            <a:r>
              <a:t>• Bezpośrednie wdrożenie: -75% testów na hali.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337560"/>
            <a:ext cx="5852160" cy="283464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8C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🖼 WIDEO / GRAFIKA: Symulacja w Isaac Sim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5A5F64"/>
                </a:solidFill>
                <a:latin typeface="Calibri"/>
              </a:defRPr>
            </a:pPr>
            <a:r>
              <a:t>Wklej zrzut ekranu lub animację renderowania sceny magazynowej z promieniami LiDAR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337560"/>
            <a:ext cx="5852160" cy="283464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8C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🖼 ZDJĘCIE / WIDEO: Fizyczny AGV na posadzce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5A5F64"/>
                </a:solidFill>
                <a:latin typeface="Calibri"/>
              </a:defRPr>
            </a:pPr>
            <a:r>
              <a:t>Wklej zdjęcie fizycznego wózka AGV lub stanowiska testowego koła Sensor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20040"/>
            <a:ext cx="10789920" cy="1188720"/>
          </a:xfrm>
        </p:spPr>
        <p:txBody>
          <a:bodyPr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990000"/>
                </a:solidFill>
                <a:latin typeface="Calibri"/>
              </a:defRPr>
            </a:pPr>
            <a:r>
              <a:t>DEMONSTRACJA I INTEGRACJA</a:t>
            </a:r>
          </a:p>
          <a:p>
            <a:pPr algn="l">
              <a:spcAft>
                <a:spcPts val="0"/>
              </a:spcAft>
              <a:defRPr sz="2200" b="1">
                <a:solidFill>
                  <a:srgbClr val="191919"/>
                </a:solidFill>
                <a:latin typeface="Calibri"/>
              </a:defRPr>
            </a:pPr>
            <a:r>
              <a:t>Cyfrowy Bliźniak (Digital Twin) i architektura Edge AI</a:t>
            </a:r>
          </a:p>
        </p:txBody>
      </p:sp>
      <p:pic>
        <p:nvPicPr>
          <p:cNvPr id="3" name="Picture 2" descr="digital_twin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694944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5897880"/>
            <a:ext cx="69494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0"/>
              </a:spcAft>
              <a:defRPr sz="1000" b="1">
                <a:solidFill>
                  <a:srgbClr val="990000"/>
                </a:solidFill>
                <a:latin typeface="Calibri"/>
              </a:defRPr>
            </a:pPr>
            <a:r>
              <a:t>▶ LIVE DEMO W PRZEGLĄDARCE: http://localhost:8080 (Three.js WebGL + arena 100x100m + telemetria)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691640"/>
            <a:ext cx="47548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400" b="1">
                <a:solidFill>
                  <a:srgbClr val="006633"/>
                </a:solidFill>
                <a:latin typeface="Calibri"/>
              </a:defRPr>
            </a:pPr>
            <a:r>
              <a:t>Pokładowe Edge AI: NVIDIA Jetson Orin NX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Czas inferencji: &lt; 15 ms (brak opóźnień chmury).</a:t>
            </a:r>
            <a:br/>
            <a:r>
              <a:t>• Do 100 TOPS mocy obliczeniowej dla sieci neuronowych.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3108960"/>
            <a:ext cx="47548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400" b="1">
                <a:solidFill>
                  <a:srgbClr val="0D47A1"/>
                </a:solidFill>
                <a:latin typeface="Calibri"/>
              </a:defRPr>
            </a:pPr>
            <a:r>
              <a:t>Szyna danych IIoT: Kafka + TimescaleDB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Apache Kafka: asynchroniczny broker telemetrii.</a:t>
            </a:r>
            <a:br/>
            <a:r>
              <a:t>• TimescaleDB + Spark: analiza anomalii i przeciążeń.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4526280"/>
            <a:ext cx="4754880" cy="164592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8C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🖼 MIEJSCE NA KLIP WIDEO Z PRZEJAZDU AGV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5A5F64"/>
                </a:solidFill>
                <a:latin typeface="Calibri"/>
              </a:defRPr>
            </a:pPr>
            <a:r>
              <a:t>Wstaw krótki filmik MP4 pokazujący omijanie przeszkód w 3D</a:t>
            </a:r>
            <a:br/>
            <a:r>
              <a:t>(Wstawianie -&gt; Wideo na tym urządzeniu)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20040"/>
            <a:ext cx="10789920" cy="1188720"/>
          </a:xfrm>
        </p:spPr>
        <p:txBody>
          <a:bodyPr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990000"/>
                </a:solidFill>
                <a:latin typeface="Calibri"/>
              </a:defRPr>
            </a:pPr>
            <a:r>
              <a:t>EWALUACJA EMPIRYCZNA</a:t>
            </a:r>
          </a:p>
          <a:p>
            <a:pPr algn="l">
              <a:spcAft>
                <a:spcPts val="0"/>
              </a:spcAft>
              <a:defRPr sz="2200" b="1">
                <a:solidFill>
                  <a:srgbClr val="191919"/>
                </a:solidFill>
                <a:latin typeface="Calibri"/>
              </a:defRPr>
            </a:pPr>
            <a:r>
              <a:t>Weryfikacja statystyczna i kluczowe wskaźniki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91640"/>
            <a:ext cx="5120640" cy="1325880"/>
          </a:xfrm>
          <a:prstGeom prst="roundRect">
            <a:avLst/>
          </a:prstGeom>
          <a:solidFill>
            <a:srgbClr val="F0F9F4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006633"/>
                </a:solidFill>
                <a:latin typeface="Calibri"/>
              </a:defRPr>
            </a:pPr>
            <a:r>
              <a:t>+85%  Średnia droga bezkolizyjna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Pojazd z Neuro-Curiosity pokonuje złożony labirynt magazynu bez naruszenia strefy bezpieczeństwa przeszkód.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154680"/>
            <a:ext cx="5120640" cy="1325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990000"/>
                </a:solidFill>
                <a:latin typeface="Calibri"/>
              </a:defRPr>
            </a:pPr>
            <a:r>
              <a:t>-62%  Wskaźnik szarpnięcia (Jerk)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Trzecia pochodna położenia (J = d³x/dt³). Płynniejsza jazda chroni przewożone ładunki i mechanikę kół.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617720"/>
            <a:ext cx="5120640" cy="1554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400" b="1">
                <a:solidFill>
                  <a:srgbClr val="191919"/>
                </a:solidFill>
                <a:latin typeface="Calibri"/>
              </a:defRPr>
            </a:pPr>
            <a:r>
              <a:t>Rygor statystyczny: Test Friedmana i Nemenyiego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5A5F64"/>
                </a:solidFill>
                <a:latin typeface="Calibri"/>
              </a:defRPr>
            </a:pPr>
            <a:r>
              <a:t>• Nieparametryczna ocena na 50 trasach magazynowych.</a:t>
            </a:r>
            <a:br/>
            <a:r>
              <a:t>• Istotność statystyczna przewagi z poziomem p &lt; 0.05.</a:t>
            </a:r>
            <a:br/>
            <a:r>
              <a:t>• Spełnienie wymogów recenzenckich czasopism JCR Q1.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6583680" cy="448056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8C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🖼 WYKRES / BOXPLOT: Porównanie Neuro-Curiosity vs Epsilon-Greedy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5A5F64"/>
                </a:solidFill>
                <a:latin typeface="Calibri"/>
              </a:defRPr>
            </a:pPr>
            <a:r>
              <a:t>Wklej wykres zbieżności uczenia (krzywa nagrody) lub diagram różnic krytycznych (Critical Difference CD Diagram) z testu Nemenyiego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20040"/>
            <a:ext cx="10789920" cy="1188720"/>
          </a:xfrm>
        </p:spPr>
        <p:txBody>
          <a:bodyPr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990000"/>
                </a:solidFill>
                <a:latin typeface="Calibri"/>
              </a:defRPr>
            </a:pPr>
            <a:r>
              <a:t>ZARZĄDZANIE PROJEKTEM</a:t>
            </a:r>
          </a:p>
          <a:p>
            <a:pPr algn="l">
              <a:spcAft>
                <a:spcPts val="0"/>
              </a:spcAft>
              <a:defRPr sz="2200" b="1">
                <a:solidFill>
                  <a:srgbClr val="191919"/>
                </a:solidFill>
                <a:latin typeface="Calibri"/>
              </a:defRPr>
            </a:pPr>
            <a:r>
              <a:t>Harmonogram realizacji i kamienie milowe projektu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91640"/>
            <a:ext cx="548640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300" b="1">
                <a:solidFill>
                  <a:srgbClr val="990000"/>
                </a:solidFill>
                <a:latin typeface="Calibri"/>
              </a:defRPr>
            </a:pPr>
            <a:r>
              <a:t>Kwartał I: Symulacja Isaac Sim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Model geometrii magazynu, kinematyka AGV, moduł ICM w PyTorch.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852928"/>
            <a:ext cx="548640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300" b="1">
                <a:solidFill>
                  <a:srgbClr val="191919"/>
                </a:solidFill>
                <a:latin typeface="Calibri"/>
              </a:defRPr>
            </a:pPr>
            <a:r>
              <a:t>Kwartał II: Edge AI &amp; Cyfrowy Bliźniak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Wdrożenie TensorRT na Jetson Orin NX, integracja szyny Kafka i 3D.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014216"/>
            <a:ext cx="548640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300" b="1">
                <a:solidFill>
                  <a:srgbClr val="191919"/>
                </a:solidFill>
                <a:latin typeface="Calibri"/>
              </a:defRPr>
            </a:pPr>
            <a:r>
              <a:t>Kwartał III: Domain Randomization &amp; Sim-to-Real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Testy odporności, randomizacja tarcia posadzki, próby jezdne AGV.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175504"/>
            <a:ext cx="548640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300" b="1">
                <a:solidFill>
                  <a:srgbClr val="006633"/>
                </a:solidFill>
                <a:latin typeface="Calibri"/>
              </a:defRPr>
            </a:pPr>
            <a:r>
              <a:t>Kwartał IV: Ewaluacja i Upowszechnienie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Seria 50 testów statystycznych, artykuł Q1, konferencja ICCC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6217920" cy="448056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8C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🖼 ZDJĘCIE: Stanowisko laboratoryjne / Zespół SKN Sensor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5A5F64"/>
                </a:solidFill>
                <a:latin typeface="Calibri"/>
              </a:defRPr>
            </a:pPr>
            <a:r>
              <a:t>Wklej zdjęcie laboratorium robotyki, platformy jezdnej lub zespołu realizującego projekt na AGH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20040"/>
            <a:ext cx="10789920" cy="1188720"/>
          </a:xfrm>
        </p:spPr>
        <p:txBody>
          <a:bodyPr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990000"/>
                </a:solidFill>
                <a:latin typeface="Calibri"/>
              </a:defRPr>
            </a:pPr>
            <a:r>
              <a:t>BUDŻET I TRANSFER WIEDZY</a:t>
            </a:r>
          </a:p>
          <a:p>
            <a:pPr algn="l">
              <a:spcAft>
                <a:spcPts val="0"/>
              </a:spcAft>
              <a:defRPr sz="2200" b="1">
                <a:solidFill>
                  <a:srgbClr val="191919"/>
                </a:solidFill>
                <a:latin typeface="Calibri"/>
              </a:defRPr>
            </a:pPr>
            <a:r>
              <a:t>Budżet projektu oraz plan upowszechniania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91640"/>
            <a:ext cx="5303520" cy="1371600"/>
          </a:xfrm>
          <a:prstGeom prst="roundRect">
            <a:avLst/>
          </a:prstGeom>
          <a:solidFill>
            <a:srgbClr val="F0F9F4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  <a:defRPr sz="1600" b="1">
                <a:solidFill>
                  <a:srgbClr val="990000"/>
                </a:solidFill>
                <a:latin typeface="Calibri"/>
              </a:defRPr>
            </a:pPr>
            <a:r>
              <a:t>Całkowity budżet grantu: 44 900 PLN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Efektywna alokacja środków na sprzęt brzegowy i konferencje.</a:t>
            </a:r>
            <a:br/>
            <a:r>
              <a:t>• Stypendia motywacyjne dla studentów: 8 980 PLN (subwencja).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246120"/>
            <a:ext cx="530352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  <a:defRPr sz="1400" b="1">
                <a:solidFill>
                  <a:srgbClr val="191919"/>
                </a:solidFill>
                <a:latin typeface="Calibri"/>
              </a:defRPr>
            </a:pPr>
            <a:r>
              <a:t>Główne pozycje kosztorysu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Jednostka Edge AI (NVIDIA Jetson Orin NX + zasilanie): 8 000 PLN</a:t>
            </a:r>
            <a:br/>
            <a:r>
              <a:t>• Wyjazdy i konferencje naukowe (ICCC 2026, KKR): 35 000 PLN</a:t>
            </a:r>
            <a:br/>
            <a:r>
              <a:t>• Aparatura, sensory i usługi publikacyjne: 1 900 PLN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800600"/>
            <a:ext cx="530352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  <a:defRPr sz="1400" b="1">
                <a:solidFill>
                  <a:srgbClr val="006633"/>
                </a:solidFill>
                <a:latin typeface="Calibri"/>
              </a:defRPr>
            </a:pPr>
            <a:r>
              <a:t>Kanały upowszechniania wyników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• Publikacja w prestiżowym czasopiśmie JCR Q1 (Open Access).</a:t>
            </a:r>
            <a:br/>
            <a:r>
              <a:t>• Repozytorium Open Source na GitHubie (kod i wagi modeli).</a:t>
            </a:r>
            <a:br/>
            <a:r>
              <a:t>• Pokazy na żywo na Dniach Otwartych i Targach Kół AGH.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6400800" cy="448056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8C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🖼 LOGOTYPY: Konferencje, Bazy Indeksacyjne, GitHub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5A5F64"/>
                </a:solidFill>
                <a:latin typeface="Calibri"/>
              </a:defRPr>
            </a:pPr>
            <a:r>
              <a:t>Wklej logotypy: IEEE Xplore, ICCC 2026, KKR 2026, GitHub Open Source</a:t>
            </a:r>
            <a:br/>
            <a:r>
              <a:t>oraz zrzut repozytorium projektu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20040"/>
            <a:ext cx="10789920" cy="1188720"/>
          </a:xfrm>
        </p:spPr>
        <p:txBody>
          <a:bodyPr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990000"/>
                </a:solidFill>
                <a:latin typeface="Calibri"/>
              </a:defRPr>
            </a:pPr>
            <a:r>
              <a:t>PODSUMOWANIE</a:t>
            </a:r>
          </a:p>
          <a:p>
            <a:pPr algn="l">
              <a:spcAft>
                <a:spcPts val="0"/>
              </a:spcAft>
              <a:defRPr sz="2200" b="1">
                <a:solidFill>
                  <a:srgbClr val="191919"/>
                </a:solidFill>
                <a:latin typeface="Calibri"/>
              </a:defRPr>
            </a:pPr>
            <a:r>
              <a:t>Podsumowanie projektu i perspektywy wdrożeniowe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91640"/>
            <a:ext cx="5669280" cy="1371600"/>
          </a:xfrm>
          <a:prstGeom prst="roundRect">
            <a:avLst/>
          </a:prstGeom>
          <a:solidFill>
            <a:srgbClr val="F0F9F4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400" b="1">
                <a:solidFill>
                  <a:srgbClr val="006633"/>
                </a:solidFill>
                <a:latin typeface="Calibri"/>
              </a:defRPr>
            </a:pPr>
            <a:r>
              <a:t>1. Innowacja naukowa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Przełamanie bariery rzadkich nagród w robotyce mobilnej dzięki modułowi Neuro-Curiosity i filtracji szumu sensorycznego.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246120"/>
            <a:ext cx="56692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400" b="1">
                <a:solidFill>
                  <a:srgbClr val="990000"/>
                </a:solidFill>
                <a:latin typeface="Calibri"/>
              </a:defRPr>
            </a:pPr>
            <a:r>
              <a:t>2. Bezpieczeństwo i ekonomia Sim-to-Real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Redukcja testów poligonowych o 75%, eliminacja kolizji oraz płynna jazda bez przeciążeń mechaniki napędów (niski Jerk).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800600"/>
            <a:ext cx="56692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  <a:defRPr sz="1400" b="1">
                <a:solidFill>
                  <a:srgbClr val="0D47A1"/>
                </a:solidFill>
                <a:latin typeface="Calibri"/>
              </a:defRPr>
            </a:pPr>
            <a:r>
              <a:t>3. Synergia AGH i rozwój kadr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91919"/>
                </a:solidFill>
                <a:latin typeface="Calibri"/>
              </a:defRPr>
            </a:pPr>
            <a:r>
              <a:t>Ścisła współpraca WIMiR i Wydziału Odlewnictwa (Przemysł 4.0) w ramach POB 6 oraz integracja studenckiego Cyfrowego Bliźniaka.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91640"/>
            <a:ext cx="60350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990000"/>
                </a:solidFill>
                <a:latin typeface="Calibri"/>
              </a:defRPr>
            </a:pPr>
            <a:r>
              <a:t>DZIĘKUJEMY ZA UWAGĘ!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191919"/>
                </a:solidFill>
                <a:latin typeface="Calibri"/>
              </a:defRPr>
            </a:pPr>
            <a:r>
              <a:t>Zapraszamy do dyskusji, pytań oraz demonstracji Live Demo Cyfrowego Bliźniaka AGV na żywo.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4251960"/>
            <a:ext cx="6035040" cy="192024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8C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🖼 KOD QR: Repozytorium GitHub &amp; Live Demo Cyfrowego Bliźniaka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5A5F64"/>
                </a:solidFill>
                <a:latin typeface="Calibri"/>
              </a:defRPr>
            </a:pPr>
            <a:r>
              <a:t>Wklej wygenerowany kod QR prowadzący do GitHuba lub prezentacji wideo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 - Default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 Presentation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Niestandardowy</PresentationFormat>
  <Slides>36</Slides>
  <Notes>25</Notes>
  <HiddenSlides>0</HiddenSlides>
  <ScaleCrop>false</ScaleCrop>
  <HeadingPairs>
    <vt:vector size="4" baseType="variant">
      <vt:variant>
        <vt:lpstr>Motyw</vt:lpstr>
      </vt:variant>
      <vt:variant>
        <vt:i4>2</vt:i4>
      </vt:variant>
      <vt:variant>
        <vt:lpstr>Tytuły slajdów</vt:lpstr>
      </vt:variant>
      <vt:variant>
        <vt:i4>36</vt:i4>
      </vt:variant>
    </vt:vector>
  </HeadingPairs>
  <TitlesOfParts>
    <vt:vector size="38" baseType="lpstr">
      <vt:lpstr>Blank Presentation - Default</vt:lpstr>
      <vt:lpstr>Blank Presentation</vt:lpstr>
      <vt:lpstr>Prezentacja programu PowerPoint</vt:lpstr>
      <vt:lpstr>1. Założenia Projektu</vt:lpstr>
      <vt:lpstr>2. Zasada Działania Sonarów </vt:lpstr>
      <vt:lpstr>2. Zasada Działania Sonarów </vt:lpstr>
      <vt:lpstr>3. Konstrukcja Sonaru</vt:lpstr>
      <vt:lpstr>3. Konstrukcja Sonaru</vt:lpstr>
      <vt:lpstr>3. Konstrukcja Sonaru</vt:lpstr>
      <vt:lpstr>3. Konstrukcja Sonaru</vt:lpstr>
      <vt:lpstr>3. Konstrukcja Sonaru</vt:lpstr>
      <vt:lpstr>3. Konstrukcja Sonaru</vt:lpstr>
      <vt:lpstr>3. Konstrukcja Sonaru</vt:lpstr>
      <vt:lpstr>3. Konstrukcja Sonaru</vt:lpstr>
      <vt:lpstr>4. Elektronika</vt:lpstr>
      <vt:lpstr>4. Elektronika</vt:lpstr>
      <vt:lpstr>4. Elektronika</vt:lpstr>
      <vt:lpstr>4. Elektronika</vt:lpstr>
      <vt:lpstr>4. Elektronika</vt:lpstr>
      <vt:lpstr>4. Elektronika</vt:lpstr>
      <vt:lpstr>4. Elektronika</vt:lpstr>
      <vt:lpstr>4. Elektronika</vt:lpstr>
      <vt:lpstr>4. Elektronika</vt:lpstr>
      <vt:lpstr>5. Akwizycja danych</vt:lpstr>
      <vt:lpstr>5. Akwizycja danych</vt:lpstr>
      <vt:lpstr>6. Analiza danych</vt:lpstr>
      <vt:lpstr>6. Analiza danych</vt:lpstr>
      <vt:lpstr>6. Analiza danych</vt:lpstr>
      <vt:lpstr>7. Złożenie urządzenia</vt:lpstr>
      <vt:lpstr>8. Testy</vt:lpstr>
      <vt:lpstr>8. Testy</vt:lpstr>
      <vt:lpstr>8. Testy</vt:lpstr>
      <vt:lpstr>8. Testy</vt:lpstr>
      <vt:lpstr>9. Plany i wyzwania na przyszłość</vt:lpstr>
      <vt:lpstr>Korzyści dla koła z realizacji projektu</vt:lpstr>
      <vt:lpstr>Podsumowanie finansowe grantu</vt:lpstr>
      <vt:lpstr>10. Bibliografia</vt:lpstr>
      <vt:lpstr>Dziękuję za uwagę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Maciek</dc:creator>
  <cp:lastModifiedBy>Patryk pięta</cp:lastModifiedBy>
  <cp:revision>2</cp:revision>
  <dcterms:modified xsi:type="dcterms:W3CDTF">2025-10-23T20:56:24Z</dcterms:modified>
</cp:coreProperties>
</file>