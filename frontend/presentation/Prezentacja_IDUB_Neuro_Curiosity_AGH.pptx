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erverZoom="100000" strictFirstAndLastChars="0" saveSubsetFonts="1">
  <p:sldMasterIdLst>
    <p:sldMasterId id="2147483672" r:id="rId1"/>
    <p:sldMasterId id="2147483684" r:id="rId2"/>
  </p:sldMasterIdLst>
  <p:notesMasterIdLst>
    <p:notesMasterId r:id="rId39"/>
  </p:notesMasterIdLst>
  <p:handoutMasterIdLst>
    <p:handoutMasterId r:id="rId40"/>
  </p:handoutMasterIdLst>
  <p:sldIdLst>
    <p:sldId id="256" r:id="rId3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</p:sldIdLst>
  <p:sldSz cx="13433425" cy="7556500"/>
  <p:notesSz cx="6858000" cy="9144000"/>
  <p:defaultTextStyle>
    <a:defPPr>
      <a:defRPr lang="pl-PL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rgbClr val="000000"/>
        </a:solidFill>
        <a:latin typeface="Arial" panose="020B0604020202020204" pitchFamily="34" charset="0"/>
        <a:ea typeface="+mn-ea"/>
        <a:cs typeface="Arial" panose="020B0604020202020204" pitchFamily="34" charset="0"/>
        <a:sym typeface="Arial" panose="020B0604020202020204" pitchFamily="34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rgbClr val="000000"/>
        </a:solidFill>
        <a:latin typeface="Arial" panose="020B0604020202020204" pitchFamily="34" charset="0"/>
        <a:ea typeface="+mn-ea"/>
        <a:cs typeface="Arial" panose="020B0604020202020204" pitchFamily="34" charset="0"/>
        <a:sym typeface="Arial" panose="020B0604020202020204" pitchFamily="34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rgbClr val="000000"/>
        </a:solidFill>
        <a:latin typeface="Arial" panose="020B0604020202020204" pitchFamily="34" charset="0"/>
        <a:ea typeface="+mn-ea"/>
        <a:cs typeface="Arial" panose="020B0604020202020204" pitchFamily="34" charset="0"/>
        <a:sym typeface="Arial" panose="020B0604020202020204" pitchFamily="34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rgbClr val="000000"/>
        </a:solidFill>
        <a:latin typeface="Arial" panose="020B0604020202020204" pitchFamily="34" charset="0"/>
        <a:ea typeface="+mn-ea"/>
        <a:cs typeface="Arial" panose="020B0604020202020204" pitchFamily="34" charset="0"/>
        <a:sym typeface="Arial" panose="020B0604020202020204" pitchFamily="34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rgbClr val="000000"/>
        </a:solidFill>
        <a:latin typeface="Arial" panose="020B0604020202020204" pitchFamily="34" charset="0"/>
        <a:ea typeface="+mn-ea"/>
        <a:cs typeface="Arial" panose="020B0604020202020204" pitchFamily="34" charset="0"/>
        <a:sym typeface="Arial" panose="020B0604020202020204" pitchFamily="34" charset="0"/>
      </a:defRPr>
    </a:lvl5pPr>
    <a:lvl6pPr marL="2286000" algn="l" defTabSz="914400" rtl="0" eaLnBrk="1" latinLnBrk="0" hangingPunct="1">
      <a:defRPr sz="2400" kern="1200">
        <a:solidFill>
          <a:srgbClr val="000000"/>
        </a:solidFill>
        <a:latin typeface="Arial" panose="020B0604020202020204" pitchFamily="34" charset="0"/>
        <a:ea typeface="+mn-ea"/>
        <a:cs typeface="Arial" panose="020B0604020202020204" pitchFamily="34" charset="0"/>
        <a:sym typeface="Arial" panose="020B0604020202020204" pitchFamily="34" charset="0"/>
      </a:defRPr>
    </a:lvl6pPr>
    <a:lvl7pPr marL="2743200" algn="l" defTabSz="914400" rtl="0" eaLnBrk="1" latinLnBrk="0" hangingPunct="1">
      <a:defRPr sz="2400" kern="1200">
        <a:solidFill>
          <a:srgbClr val="000000"/>
        </a:solidFill>
        <a:latin typeface="Arial" panose="020B0604020202020204" pitchFamily="34" charset="0"/>
        <a:ea typeface="+mn-ea"/>
        <a:cs typeface="Arial" panose="020B0604020202020204" pitchFamily="34" charset="0"/>
        <a:sym typeface="Arial" panose="020B0604020202020204" pitchFamily="34" charset="0"/>
      </a:defRPr>
    </a:lvl7pPr>
    <a:lvl8pPr marL="3200400" algn="l" defTabSz="914400" rtl="0" eaLnBrk="1" latinLnBrk="0" hangingPunct="1">
      <a:defRPr sz="2400" kern="1200">
        <a:solidFill>
          <a:srgbClr val="000000"/>
        </a:solidFill>
        <a:latin typeface="Arial" panose="020B0604020202020204" pitchFamily="34" charset="0"/>
        <a:ea typeface="+mn-ea"/>
        <a:cs typeface="Arial" panose="020B0604020202020204" pitchFamily="34" charset="0"/>
        <a:sym typeface="Arial" panose="020B0604020202020204" pitchFamily="34" charset="0"/>
      </a:defRPr>
    </a:lvl8pPr>
    <a:lvl9pPr marL="3657600" algn="l" defTabSz="914400" rtl="0" eaLnBrk="1" latinLnBrk="0" hangingPunct="1">
      <a:defRPr sz="2400" kern="1200">
        <a:solidFill>
          <a:srgbClr val="000000"/>
        </a:solidFill>
        <a:latin typeface="Arial" panose="020B0604020202020204" pitchFamily="34" charset="0"/>
        <a:ea typeface="+mn-ea"/>
        <a:cs typeface="Arial" panose="020B0604020202020204" pitchFamily="34" charset="0"/>
        <a:sym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380">
          <p15:clr>
            <a:srgbClr val="A4A3A4"/>
          </p15:clr>
        </p15:guide>
        <p15:guide id="2" pos="423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 pośredni 2 — Ak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Styl pośredni 2 — Ak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A488322-F2BA-4B5B-9748-0D474271808F}" styleName="Styl pośredni 3 — Ak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2380"/>
        <p:guide pos="4231"/>
      </p:guideLst>
    </p:cSldViewPr>
  </p:slide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>
            <a:extLst>
              <a:ext uri="{FF2B5EF4-FFF2-40B4-BE49-F238E27FC236}">
                <a16:creationId xmlns:a16="http://schemas.microsoft.com/office/drawing/2014/main" id="{2E986B9C-8AA1-E764-131B-B80C8052D4B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pl-PL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11F353F1-8DD0-21DE-2E32-37B5413F687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smtClean="0"/>
            </a:lvl1pPr>
          </a:lstStyle>
          <a:p>
            <a:pPr>
              <a:defRPr/>
            </a:pPr>
            <a:fld id="{5E468869-6D10-4B47-9B9C-709EA3F9F48F}" type="datetimeFigureOut">
              <a:rPr lang="pl-PL"/>
              <a:pPr>
                <a:defRPr/>
              </a:pPr>
              <a:t>23.10.2025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749CB7D2-3F62-5055-43EE-C27C984C3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pl-PL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60A7CA9C-3E11-92C3-9B9A-A3227349207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smtClean="0"/>
            </a:lvl1pPr>
          </a:lstStyle>
          <a:p>
            <a:pPr>
              <a:defRPr/>
            </a:pPr>
            <a:fld id="{92EBAED9-1D69-44EE-99CA-E15544D45CF6}" type="slidenum">
              <a:rPr lang="pl-PL"/>
              <a:pPr>
                <a:defRPr/>
              </a:pPr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1">
            <a:extLst>
              <a:ext uri="{FF2B5EF4-FFF2-40B4-BE49-F238E27FC236}">
                <a16:creationId xmlns:a16="http://schemas.microsoft.com/office/drawing/2014/main" id="{E169CC27-8F39-5DF4-7FA1-DA5AB09665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382588" y="685800"/>
            <a:ext cx="6092825" cy="3429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50C4B3C9-6CAE-E77A-D3A8-24C058B993EC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pl-PL" noProof="0">
                <a:sym typeface="Helvetica Neue" charset="0"/>
              </a:rPr>
              <a:t>Click to edit Master text styles</a:t>
            </a:r>
          </a:p>
          <a:p>
            <a:pPr lvl="1"/>
            <a:r>
              <a:rPr lang="en-US" altLang="pl-PL" noProof="0">
                <a:sym typeface="Helvetica Neue" charset="0"/>
              </a:rPr>
              <a:t>Second level</a:t>
            </a:r>
          </a:p>
          <a:p>
            <a:pPr lvl="2"/>
            <a:r>
              <a:rPr lang="en-US" altLang="pl-PL" noProof="0">
                <a:sym typeface="Helvetica Neue" charset="0"/>
              </a:rPr>
              <a:t>Third level</a:t>
            </a:r>
          </a:p>
          <a:p>
            <a:pPr lvl="3"/>
            <a:r>
              <a:rPr lang="en-US" altLang="pl-PL" noProof="0">
                <a:sym typeface="Helvetica Neue" charset="0"/>
              </a:rPr>
              <a:t>Fourth level</a:t>
            </a:r>
          </a:p>
          <a:p>
            <a:pPr lvl="4"/>
            <a:r>
              <a:rPr lang="en-US" altLang="pl-PL" noProof="0">
                <a:sym typeface="Helvetica Neue" charset="0"/>
              </a:rPr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0"/>
      </a:spcBef>
      <a:spcAft>
        <a:spcPct val="0"/>
      </a:spcAft>
      <a:defRPr kern="1200">
        <a:solidFill>
          <a:srgbClr val="000000"/>
        </a:solidFill>
        <a:latin typeface="Helvetica Neue" charset="0"/>
        <a:ea typeface="Helvetica Neue" charset="0"/>
        <a:cs typeface="Helvetica Neue" charset="0"/>
        <a:sym typeface="Helvetica Neue"/>
      </a:defRPr>
    </a:lvl1pPr>
    <a:lvl2pPr indent="228600" algn="l" rtl="0" eaLnBrk="0" fontAlgn="base" hangingPunct="0">
      <a:spcBef>
        <a:spcPct val="0"/>
      </a:spcBef>
      <a:spcAft>
        <a:spcPct val="0"/>
      </a:spcAft>
      <a:defRPr kern="1200">
        <a:solidFill>
          <a:srgbClr val="000000"/>
        </a:solidFill>
        <a:latin typeface="Helvetica Neue" charset="0"/>
        <a:ea typeface="Helvetica Neue" charset="0"/>
        <a:cs typeface="Helvetica Neue" charset="0"/>
        <a:sym typeface="Helvetica Neue"/>
      </a:defRPr>
    </a:lvl2pPr>
    <a:lvl3pPr indent="457200" algn="l" rtl="0" eaLnBrk="0" fontAlgn="base" hangingPunct="0">
      <a:spcBef>
        <a:spcPct val="0"/>
      </a:spcBef>
      <a:spcAft>
        <a:spcPct val="0"/>
      </a:spcAft>
      <a:defRPr kern="1200">
        <a:solidFill>
          <a:srgbClr val="000000"/>
        </a:solidFill>
        <a:latin typeface="Helvetica Neue" charset="0"/>
        <a:ea typeface="Helvetica Neue" charset="0"/>
        <a:cs typeface="Helvetica Neue" charset="0"/>
        <a:sym typeface="Helvetica Neue"/>
      </a:defRPr>
    </a:lvl3pPr>
    <a:lvl4pPr indent="685800" algn="l" rtl="0" eaLnBrk="0" fontAlgn="base" hangingPunct="0">
      <a:spcBef>
        <a:spcPct val="0"/>
      </a:spcBef>
      <a:spcAft>
        <a:spcPct val="0"/>
      </a:spcAft>
      <a:defRPr kern="1200">
        <a:solidFill>
          <a:srgbClr val="000000"/>
        </a:solidFill>
        <a:latin typeface="Helvetica Neue" charset="0"/>
        <a:ea typeface="Helvetica Neue" charset="0"/>
        <a:cs typeface="Helvetica Neue" charset="0"/>
        <a:sym typeface="Helvetica Neue"/>
      </a:defRPr>
    </a:lvl4pPr>
    <a:lvl5pPr indent="914400" algn="l" rtl="0" eaLnBrk="0" fontAlgn="base" hangingPunct="0">
      <a:spcBef>
        <a:spcPct val="0"/>
      </a:spcBef>
      <a:spcAft>
        <a:spcPct val="0"/>
      </a:spcAft>
      <a:defRPr kern="1200">
        <a:solidFill>
          <a:srgbClr val="000000"/>
        </a:solidFill>
        <a:latin typeface="Helvetica Neue" charset="0"/>
        <a:ea typeface="Helvetica Neue" charset="0"/>
        <a:cs typeface="Helvetica Neue" charset="0"/>
        <a:sym typeface="Helvetica Neue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pPr algn="l">
              <a:spcAft>
                <a:spcPts val="400"/>
              </a:spcAft>
              <a:defRPr sz="1300" b="1">
                <a:solidFill>
                  <a:srgbClr val="990000"/>
                </a:solidFill>
                <a:latin typeface="Calibri"/>
              </a:defRPr>
            </a:pPr>
            <a:r>
              <a:t>⏱ CZAS: 0:00 - 1:00 (60 sekund)</a:t>
            </a:r>
          </a:p>
          <a:p>
            <a:pPr algn="l">
              <a:spcAft>
                <a:spcPts val="600"/>
              </a:spcAft>
              <a:defRPr sz="1100" b="1">
                <a:solidFill>
                  <a:srgbClr val="006633"/>
                </a:solidFill>
                <a:latin typeface="Calibri"/>
              </a:defRPr>
            </a:pPr>
            <a:r>
              <a:t>🎯 CEL SLAJDU: Przedstawienie tematu, jednostki, zespołu SKN Sensor oraz osadzenia projektu w IDUB D12 / POB 6.</a:t>
            </a:r>
          </a:p>
          <a:p>
            <a:pPr algn="l">
              <a:spcAft>
                <a:spcPts val="300"/>
              </a:spcAft>
              <a:defRPr sz="1100" b="1">
                <a:solidFill>
                  <a:srgbClr val="191919"/>
                </a:solidFill>
                <a:latin typeface="Calibri"/>
              </a:defRPr>
            </a:pPr>
            <a:r>
              <a:t>📝 SKRYPT WYPOWIEDZI PRELEGENCI: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191919"/>
                </a:solidFill>
                <a:latin typeface="Calibri"/>
              </a:defRPr>
            </a:pPr>
            <a:r>
              <a:t>Dzień dobry Państwu. Nazywam się Patryk Pięta i w imieniu Koła Naukowego SENSOR działającego przy Wydziale Inżynierii Mechanicznej i Robotyki oraz Wydziale Odlewnictwa AGH, mam zaszczyt przedstawić projekt badawczy pt. «Algorytm Neuro-Curiosity do optymalizacji strategii sterowania pojazdów autonomicznych». Projekt realizujemy pod opieką naukową dr. hab. inż. Krzysztofa Lalika w ramach grantu IDUB D12 z wpisaniem w Priorytetowy Obszar Badawczy POB 6. Nasz projekt łączy zaawansowane metody sztucznej inteligencji, brzegowe przetwarzanie Edge AI oraz platformę Cyfrowego Bliźniaka do sterowania pojazdami autonomicznymi w inteligentnych fabrykach Przemysłu 4.0.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pPr algn="l">
              <a:spcAft>
                <a:spcPts val="400"/>
              </a:spcAft>
              <a:defRPr sz="1300" b="1">
                <a:solidFill>
                  <a:srgbClr val="990000"/>
                </a:solidFill>
                <a:latin typeface="Calibri"/>
              </a:defRPr>
            </a:pPr>
            <a:r>
              <a:t>⏱ CZAS: 1:00 - 2:00 (60 sekund)</a:t>
            </a:r>
          </a:p>
          <a:p>
            <a:pPr algn="l">
              <a:spcAft>
                <a:spcPts val="600"/>
              </a:spcAft>
              <a:defRPr sz="1100" b="1">
                <a:solidFill>
                  <a:srgbClr val="006633"/>
                </a:solidFill>
                <a:latin typeface="Calibri"/>
              </a:defRPr>
            </a:pPr>
            <a:r>
              <a:t>🎯 CEL SLAJDU: Wskazanie barier klasycznego Reinforcement Learning w intralogistyce: rzadkie nagrody, wielowymiarowość i ryzyko kolizji.</a:t>
            </a:r>
          </a:p>
          <a:p>
            <a:pPr algn="l">
              <a:spcAft>
                <a:spcPts val="300"/>
              </a:spcAft>
              <a:defRPr sz="1100" b="1">
                <a:solidFill>
                  <a:srgbClr val="191919"/>
                </a:solidFill>
                <a:latin typeface="Calibri"/>
              </a:defRPr>
            </a:pPr>
            <a:r>
              <a:t>📝 SKRYPT WYPOWIEDZI PRELEGENCI: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191919"/>
                </a:solidFill>
                <a:latin typeface="Calibri"/>
              </a:defRPr>
            </a:pPr>
            <a:r>
              <a:t>Przejdźmy do problemu badawczego. Nowoczesna intralogistyka wymaga wdrażania autonomicznych wózków AGV i robotów AMR w dynamicznych środowiskach magazynowych. Chcąc zoptymalizować sterowanie za pomocą uczenia ze wzmocnieniem, napotykamy na trzy kluczowe bariery. Po pierwsze: rzadkie nagrody – w dużej hali pojazd nie wie, czy jedzie dobrze, dopóki przypadkowo nie dotrze do celu. Po drugie: klątwa wielowymiarowości chmur punktów LiDAR – agent gubi się w szumie informacyjnym. Po trzecie: eksploracja losowa epsilon-greedy w świecie rzeczywistym grozi kolizjami ze sprzętem i gwałtownym szarpaniem napędów. Nasz projekt rozwiązuje te problemy u źródła.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pPr algn="l">
              <a:spcAft>
                <a:spcPts val="400"/>
              </a:spcAft>
              <a:defRPr sz="1300" b="1">
                <a:solidFill>
                  <a:srgbClr val="990000"/>
                </a:solidFill>
                <a:latin typeface="Calibri"/>
              </a:defRPr>
            </a:pPr>
            <a:r>
              <a:t>⏱ CZAS: 2:00 - 3:15 (75 sekund)</a:t>
            </a:r>
          </a:p>
          <a:p>
            <a:pPr algn="l">
              <a:spcAft>
                <a:spcPts val="600"/>
              </a:spcAft>
              <a:defRPr sz="1100" b="1">
                <a:solidFill>
                  <a:srgbClr val="006633"/>
                </a:solidFill>
                <a:latin typeface="Calibri"/>
              </a:defRPr>
            </a:pPr>
            <a:r>
              <a:t>🎯 CEL SLAJDU: Wyjaśnienie mechanizmu ICM (Forward i Inverse Model) oraz wewnętrznej motywacji w sterowaniu pojazdem AGV.</a:t>
            </a:r>
          </a:p>
          <a:p>
            <a:pPr algn="l">
              <a:spcAft>
                <a:spcPts val="300"/>
              </a:spcAft>
              <a:defRPr sz="1100" b="1">
                <a:solidFill>
                  <a:srgbClr val="191919"/>
                </a:solidFill>
                <a:latin typeface="Calibri"/>
              </a:defRPr>
            </a:pPr>
            <a:r>
              <a:t>📝 SKRYPT WYPOWIEDZI PRELEGENCI: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191919"/>
                </a:solidFill>
                <a:latin typeface="Calibri"/>
              </a:defRPr>
            </a:pPr>
            <a:r>
              <a:t>Kluczową innowacją naszego projektu jest algorytm Neuro-Curiosity oparty na Intrinsic Curiosity Module. Zamiast czekać na rzadką nagrodę zewnętrzną lub błądzić losowo, agent uczy się na bazie wewnętrznego błędu predykcji. Model dynamiki w przód stara się przewidzieć, jak zmieni się odczyt sensorów po wykonaniu ruchu. Jeżeli stan jest dla pojazdu zaskakujący – pojawia się wewnętrzna nagroda motywująca do jego zbadania. Równocześnie moduł odwrotny (Inverse Model) eliminuje problem szumu tła, ignorując elementy, na które agent nie ma wpływu. Dzięki temu pojazd autonomiczny aktywnie i bezpiecznie eksploruje przestrzeń fabryczną.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pPr algn="l">
              <a:spcAft>
                <a:spcPts val="400"/>
              </a:spcAft>
              <a:defRPr sz="1300" b="1">
                <a:solidFill>
                  <a:srgbClr val="990000"/>
                </a:solidFill>
                <a:latin typeface="Calibri"/>
              </a:defRPr>
            </a:pPr>
            <a:r>
              <a:t>⏱ CZAS: 3:15 - 4:15 (60 sekund)</a:t>
            </a:r>
          </a:p>
          <a:p>
            <a:pPr algn="l">
              <a:spcAft>
                <a:spcPts val="600"/>
              </a:spcAft>
              <a:defRPr sz="1100" b="1">
                <a:solidFill>
                  <a:srgbClr val="006633"/>
                </a:solidFill>
                <a:latin typeface="Calibri"/>
              </a:defRPr>
            </a:pPr>
            <a:r>
              <a:t>🎯 CEL SLAJDU: Prezentacja metodologii Sim-to-Real: od symulacji w NVIDIA Isaac Sim przez Domain Randomization do transferu Zero-Shot.</a:t>
            </a:r>
          </a:p>
          <a:p>
            <a:pPr algn="l">
              <a:spcAft>
                <a:spcPts val="300"/>
              </a:spcAft>
              <a:defRPr sz="1100" b="1">
                <a:solidFill>
                  <a:srgbClr val="191919"/>
                </a:solidFill>
                <a:latin typeface="Calibri"/>
              </a:defRPr>
            </a:pPr>
            <a:r>
              <a:t>📝 SKRYPT WYPOWIEDZI PRELEGENCI: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191919"/>
                </a:solidFill>
                <a:latin typeface="Calibri"/>
              </a:defRPr>
            </a:pPr>
            <a:r>
              <a:t>Aby bezpiecznie przenieść inteligencję z komputera na fizyczny pojazd, stosujemy metodologię Sim-to-Real. W pierwszym kroku trenujemy agenta w symulatorze NVIDIA Isaac Sim z pełną fizyką i emulacją LiDAR-a. Aby uniknąć tzw. Reality Gap – czyli rozbieżności między wirtualnym światem a halą przemysłową – stosujemy Domain Randomization. Losowo zmieniamy współczynniki tarcia posadzki, masy ładunków i opóźnienia sieciowe. W efekcie sieć neuronowa staje się tak odporna, że w trzecim kroku realizujemy transfer Zero-Shot – bezpośrednie wdrożenie na platformę pokładową NVIDIA Jetson Orin NX bez ryzyka uszkodzenia sprzętu.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pPr algn="l">
              <a:spcAft>
                <a:spcPts val="400"/>
              </a:spcAft>
              <a:defRPr sz="1300" b="1">
                <a:solidFill>
                  <a:srgbClr val="990000"/>
                </a:solidFill>
                <a:latin typeface="Calibri"/>
              </a:defRPr>
            </a:pPr>
            <a:r>
              <a:t>⏱ CZAS: 4:15 - 5:45 (90 sekund) - KLUCZOWY PUNKT WIZUALNY!</a:t>
            </a:r>
          </a:p>
          <a:p>
            <a:pPr algn="l">
              <a:spcAft>
                <a:spcPts val="600"/>
              </a:spcAft>
              <a:defRPr sz="1100" b="1">
                <a:solidFill>
                  <a:srgbClr val="006633"/>
                </a:solidFill>
                <a:latin typeface="Calibri"/>
              </a:defRPr>
            </a:pPr>
            <a:r>
              <a:t>🎯 CEL SLAJDU: Demonstracja działającego stanowiska Cyfrowego Bliźniaka (zrzut ekranu), roli Patryka Pięty i architektury IIoT (Kafka, TimescaleDB, Spark, Jetson).</a:t>
            </a:r>
          </a:p>
          <a:p>
            <a:pPr algn="l">
              <a:spcAft>
                <a:spcPts val="300"/>
              </a:spcAft>
              <a:defRPr sz="1100" b="1">
                <a:solidFill>
                  <a:srgbClr val="191919"/>
                </a:solidFill>
                <a:latin typeface="Calibri"/>
              </a:defRPr>
            </a:pPr>
            <a:r>
              <a:t>📝 SKRYPT WYPOWIEDZI PRELEGENCI: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191919"/>
                </a:solidFill>
                <a:latin typeface="Calibri"/>
              </a:defRPr>
            </a:pPr>
            <a:r>
              <a:t>Na tym slajdzie widzą Państwo kluczowy element demonstracyjny projektu – działający Cyfrowy Bliźniak floty AGV, stanowiący fundament mojej pracy inżynierskiej na Wydziale Odlewnictwa realizowanej we współpracy z SKN Sensor. Po lewej stronie widzimy trójwymiarową arenę 100x100 metrów stworzoną w Three.js, gdzie na żywo porównujemy pojazd AGV-01 sterowany algorytmem Neuro-Curiosity z pojazdem referencyjnym. Po prawej stronie przedstawiono architekturę Edge IIoT: jednostkę brzegową NVIDIA Jetson Orin NX podejmującą decyzje w czasie poniżej 15 ms, brokera Apache Kafka oraz bazę TimescaleDB i analitykę Spark Streaming. Platforma ta pozwala weryfikować zachowanie algorytmów zanim trafią na fizyczną posadzkę fabryczną.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pPr algn="l">
              <a:spcAft>
                <a:spcPts val="400"/>
              </a:spcAft>
              <a:defRPr sz="1300" b="1">
                <a:solidFill>
                  <a:srgbClr val="990000"/>
                </a:solidFill>
                <a:latin typeface="Calibri"/>
              </a:defRPr>
            </a:pPr>
            <a:r>
              <a:t>⏱ CZAS: 5:45 - 7:00 (75 sekund)</a:t>
            </a:r>
          </a:p>
          <a:p>
            <a:pPr algn="l">
              <a:spcAft>
                <a:spcPts val="600"/>
              </a:spcAft>
              <a:defRPr sz="1100" b="1">
                <a:solidFill>
                  <a:srgbClr val="006633"/>
                </a:solidFill>
                <a:latin typeface="Calibri"/>
              </a:defRPr>
            </a:pPr>
            <a:r>
              <a:t>🎯 CEL SLAJDU: Prezentacja metryk ewaluacyjnych (droga bezkolizyjna, Jerk, konwergencja) oraz rygoru statystycznego (Test Friedmana i Nemenyiego).</a:t>
            </a:r>
          </a:p>
          <a:p>
            <a:pPr algn="l">
              <a:spcAft>
                <a:spcPts val="300"/>
              </a:spcAft>
              <a:defRPr sz="1100" b="1">
                <a:solidFill>
                  <a:srgbClr val="191919"/>
                </a:solidFill>
                <a:latin typeface="Calibri"/>
              </a:defRPr>
            </a:pPr>
            <a:r>
              <a:t>📝 SKRYPT WYPOWIEDZI PRELEGENCI: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191919"/>
                </a:solidFill>
                <a:latin typeface="Calibri"/>
              </a:defRPr>
            </a:pPr>
            <a:r>
              <a:t>Projekt kładzie olbrzymi nacisk na rygor metodologiczny. Ewaluację opieramy na czterech mierzalnych wskaźnikach: drodze bezkolizyjnej, wskaźniku szarpnięcia Jerk (kluczowym dla ochrony delikatnych ładunków i mechaniki pojazdu), tempie zbieżności uczenia oraz pokryciu magazynu. Ponadto, zgodnie z wytycznymi konkursu IDUB, stosujemy rygorystyczny aparat statystyczny: nieparametryczny test Friedmana oceniający zachowanie algorytmów na wielu trasach oraz post-hoc test Nemenyiego z poziomem p &lt; 0.05. Pozwala to jednoznacznie udowodnić recenzentom, że przewaga Neuro-Curiosity nie jest dziełem przypadku.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pPr algn="l">
              <a:spcAft>
                <a:spcPts val="400"/>
              </a:spcAft>
              <a:defRPr sz="1300" b="1">
                <a:solidFill>
                  <a:srgbClr val="990000"/>
                </a:solidFill>
                <a:latin typeface="Calibri"/>
              </a:defRPr>
            </a:pPr>
            <a:r>
              <a:t>⏱ CZAS: 7:00 - 8:00 (60 sekund)</a:t>
            </a:r>
          </a:p>
          <a:p>
            <a:pPr algn="l">
              <a:spcAft>
                <a:spcPts val="600"/>
              </a:spcAft>
              <a:defRPr sz="1100" b="1">
                <a:solidFill>
                  <a:srgbClr val="006633"/>
                </a:solidFill>
                <a:latin typeface="Calibri"/>
              </a:defRPr>
            </a:pPr>
            <a:r>
              <a:t>🎯 CEL SLAJDU: Omówienie 4 kwartałów realizacji grantu i konkretnych kamieni milowych od symulacji po publikacje.</a:t>
            </a:r>
          </a:p>
          <a:p>
            <a:pPr algn="l">
              <a:spcAft>
                <a:spcPts val="300"/>
              </a:spcAft>
              <a:defRPr sz="1100" b="1">
                <a:solidFill>
                  <a:srgbClr val="191919"/>
                </a:solidFill>
                <a:latin typeface="Calibri"/>
              </a:defRPr>
            </a:pPr>
            <a:r>
              <a:t>📝 SKRYPT WYPOWIEDZI PRELEGENCI: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191919"/>
                </a:solidFill>
                <a:latin typeface="Calibri"/>
              </a:defRPr>
            </a:pPr>
            <a:r>
              <a:t>Harmonogram projektu podzielono na cztery logiczne kwartały. W pierwszym kwartale skupiamy się na modelowaniu geometrii w NVIDIA Isaac Sim oraz implementacji architektury ICM. W kwartale drugim optymalizujemy modele do formatu TensorRT na Jetsonie Orin NX i łączymy szynę telemetrii Cyfrowego Bliźniaka. W kwartale trzecim realizujemy transfer Sim-to-Real z intensywną Domain Randomization na stanowisku fizycznym. Wreszcie w kwartale czwartym przeprowadzamy pełną serię 50 testów statystycznych, przygotowujemy publikację naukową i udostępniamy kod w modelu Open Source.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pPr algn="l">
              <a:spcAft>
                <a:spcPts val="400"/>
              </a:spcAft>
              <a:defRPr sz="1300" b="1">
                <a:solidFill>
                  <a:srgbClr val="990000"/>
                </a:solidFill>
                <a:latin typeface="Calibri"/>
              </a:defRPr>
            </a:pPr>
            <a:r>
              <a:t>⏱ CZAS: 8:00 - 9:00 (60 sekund)</a:t>
            </a:r>
          </a:p>
          <a:p>
            <a:pPr algn="l">
              <a:spcAft>
                <a:spcPts val="600"/>
              </a:spcAft>
              <a:defRPr sz="1100" b="1">
                <a:solidFill>
                  <a:srgbClr val="006633"/>
                </a:solidFill>
                <a:latin typeface="Calibri"/>
              </a:defRPr>
            </a:pPr>
            <a:r>
              <a:t>🎯 CEL SLAJDU: Prezentacja budżetu grantu (44 900 PLN), jednostki Jetson Orin NX, konferencji ICCC/KKR oraz planu upowszechniania.</a:t>
            </a:r>
          </a:p>
          <a:p>
            <a:pPr algn="l">
              <a:spcAft>
                <a:spcPts val="300"/>
              </a:spcAft>
              <a:defRPr sz="1100" b="1">
                <a:solidFill>
                  <a:srgbClr val="191919"/>
                </a:solidFill>
                <a:latin typeface="Calibri"/>
              </a:defRPr>
            </a:pPr>
            <a:r>
              <a:t>📝 SKRYPT WYPOWIEDZI PRELEGENCI: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191919"/>
                </a:solidFill>
                <a:latin typeface="Calibri"/>
              </a:defRPr>
            </a:pPr>
            <a:r>
              <a:t>Budżet projektu wynosi 44 900 PLN i został skonstruowany w sposób wysoce efektywny kosztowo. Kluczowe pozycje to pokładowy moduł Edge AI NVIDIA Jetson Orin NX za 8 tysięcy złotych oraz udział zespołu w konferencjach naukowych za 35 tysięcy złotych. Pozwoli nam to zaprezentować wyniki na międzynarodowej konferencji ICCC 2026 indeksowanej w IEEE Xplore oraz Krajowej Konferencji Robotyki KKR. Ponadto planujemy publikację w prestiżowym czasopiśmie Open Access, udostępnienie biblioteki na GitHubie oraz prezentację działania robotów na Dniach Otwartych AGH, budując pozycję uczelni jako lidera Przemysłu 4.0.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pPr algn="l">
              <a:spcAft>
                <a:spcPts val="400"/>
              </a:spcAft>
              <a:defRPr sz="1300" b="1">
                <a:solidFill>
                  <a:srgbClr val="990000"/>
                </a:solidFill>
                <a:latin typeface="Calibri"/>
              </a:defRPr>
            </a:pPr>
            <a:r>
              <a:t>⏱ CZAS: 9:00 - 10:00 (60 sekund)</a:t>
            </a:r>
          </a:p>
          <a:p>
            <a:pPr algn="l">
              <a:spcAft>
                <a:spcPts val="600"/>
              </a:spcAft>
              <a:defRPr sz="1100" b="1">
                <a:solidFill>
                  <a:srgbClr val="006633"/>
                </a:solidFill>
                <a:latin typeface="Calibri"/>
              </a:defRPr>
            </a:pPr>
            <a:r>
              <a:t>🎯 CEL SLAJDU: Podsumowanie 3 filarów sukcesu projektu: innowacja naukowa, wartość przemysłowa i synergia wewnątrz AGH. Zaproszenie do pytań.</a:t>
            </a:r>
          </a:p>
          <a:p>
            <a:pPr algn="l">
              <a:spcAft>
                <a:spcPts val="300"/>
              </a:spcAft>
              <a:defRPr sz="1100" b="1">
                <a:solidFill>
                  <a:srgbClr val="191919"/>
                </a:solidFill>
                <a:latin typeface="Calibri"/>
              </a:defRPr>
            </a:pPr>
            <a:r>
              <a:t>📝 SKRYPT WYPOWIEDZI PRELEGENCI: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191919"/>
                </a:solidFill>
                <a:latin typeface="Calibri"/>
              </a:defRPr>
            </a:pPr>
            <a:r>
              <a:t>Podsumowując nasze wystąpienie: algorytm Neuro-Curiosity rozwiązuje kluczowy problem rzadkich nagród w robotyce mobilnej. Z perspektywy przemysłowej pozwala na bezpieczny, bezkolizyjny transfer Sim-to-Real bez ryzyka zniszczenia pojazdów i ładunków. Co szczególnie ważne, projekt łączy wiedzę i zaangażowanie studentów WIMiR oraz Wydziału Odlewnictwa, integrując platformę Cyfrowego Bliźniaka z realnymi badaniami naukowymi AGH w ramach POB 6. Dziękuję bardzo Państwu za uwagę i zapraszam do zadawania pytań.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79178" y="1236678"/>
            <a:ext cx="10075069" cy="2630781"/>
          </a:xfrm>
        </p:spPr>
        <p:txBody>
          <a:bodyPr anchor="b"/>
          <a:lstStyle>
            <a:lvl1pPr algn="ctr">
              <a:defRPr sz="6611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79178" y="3968912"/>
            <a:ext cx="10075069" cy="1824404"/>
          </a:xfrm>
        </p:spPr>
        <p:txBody>
          <a:bodyPr/>
          <a:lstStyle>
            <a:lvl1pPr marL="0" indent="0" algn="ctr">
              <a:buNone/>
              <a:defRPr sz="2644"/>
            </a:lvl1pPr>
            <a:lvl2pPr marL="503743" indent="0" algn="ctr">
              <a:buNone/>
              <a:defRPr sz="2204"/>
            </a:lvl2pPr>
            <a:lvl3pPr marL="1007486" indent="0" algn="ctr">
              <a:buNone/>
              <a:defRPr sz="1983"/>
            </a:lvl3pPr>
            <a:lvl4pPr marL="1511229" indent="0" algn="ctr">
              <a:buNone/>
              <a:defRPr sz="1763"/>
            </a:lvl4pPr>
            <a:lvl5pPr marL="2014972" indent="0" algn="ctr">
              <a:buNone/>
              <a:defRPr sz="1763"/>
            </a:lvl5pPr>
            <a:lvl6pPr marL="2518715" indent="0" algn="ctr">
              <a:buNone/>
              <a:defRPr sz="1763"/>
            </a:lvl6pPr>
            <a:lvl7pPr marL="3022458" indent="0" algn="ctr">
              <a:buNone/>
              <a:defRPr sz="1763"/>
            </a:lvl7pPr>
            <a:lvl8pPr marL="3526201" indent="0" algn="ctr">
              <a:buNone/>
              <a:defRPr sz="1763"/>
            </a:lvl8pPr>
            <a:lvl9pPr marL="4029944" indent="0" algn="ctr">
              <a:buNone/>
              <a:defRPr sz="1763"/>
            </a:lvl9pPr>
          </a:lstStyle>
          <a:p>
            <a:r>
              <a:rPr lang="pl-PL"/>
              <a:t>Kliknij, aby edytować styl wzorca podtytułu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876B77-A5BC-E6AA-75E9-7AEDE2C352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50E9BA8-266F-457E-A8AD-E3696E97A32E}" type="datetimeFigureOut">
              <a:rPr lang="en-US"/>
              <a:pPr>
                <a:defRPr/>
              </a:pPr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85F4B5-5CDB-0A7C-7A23-8186BF152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9161B0-30A4-710A-BAB0-C9A933BD3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4B87C2C-4F80-4E60-AA6A-0A6683F16F17}" type="slidenum">
              <a:rPr lang="en-US" altLang="pl-PL"/>
              <a:pPr>
                <a:defRPr/>
              </a:pPr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23767608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ABBE88-7EAB-6E12-B34D-39ADFCDEEB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12E3E4D-68AE-461A-930E-4D88993A0010}" type="datetimeFigureOut">
              <a:rPr lang="en-US"/>
              <a:pPr>
                <a:defRPr/>
              </a:pPr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BBC6C2-0602-99CC-725B-CF7EB97561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A5DA16-9C35-28B9-A342-AF38E71EFD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F1768D6-3008-409B-BC3C-A59BA9B66C78}" type="slidenum">
              <a:rPr lang="en-US" altLang="pl-PL"/>
              <a:pPr>
                <a:defRPr/>
              </a:pPr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5961012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6551" y="1883878"/>
            <a:ext cx="11586329" cy="3143294"/>
          </a:xfrm>
        </p:spPr>
        <p:txBody>
          <a:bodyPr anchor="b"/>
          <a:lstStyle>
            <a:lvl1pPr>
              <a:defRPr sz="6611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6551" y="5056909"/>
            <a:ext cx="11586329" cy="1652984"/>
          </a:xfrm>
        </p:spPr>
        <p:txBody>
          <a:bodyPr/>
          <a:lstStyle>
            <a:lvl1pPr marL="0" indent="0">
              <a:buNone/>
              <a:defRPr sz="2644">
                <a:solidFill>
                  <a:schemeClr val="tx1">
                    <a:tint val="75000"/>
                  </a:schemeClr>
                </a:solidFill>
              </a:defRPr>
            </a:lvl1pPr>
            <a:lvl2pPr marL="503743" indent="0">
              <a:buNone/>
              <a:defRPr sz="2204">
                <a:solidFill>
                  <a:schemeClr val="tx1">
                    <a:tint val="75000"/>
                  </a:schemeClr>
                </a:solidFill>
              </a:defRPr>
            </a:lvl2pPr>
            <a:lvl3pPr marL="1007486" indent="0">
              <a:buNone/>
              <a:defRPr sz="1983">
                <a:solidFill>
                  <a:schemeClr val="tx1">
                    <a:tint val="75000"/>
                  </a:schemeClr>
                </a:solidFill>
              </a:defRPr>
            </a:lvl3pPr>
            <a:lvl4pPr marL="1511229" indent="0">
              <a:buNone/>
              <a:defRPr sz="1763">
                <a:solidFill>
                  <a:schemeClr val="tx1">
                    <a:tint val="75000"/>
                  </a:schemeClr>
                </a:solidFill>
              </a:defRPr>
            </a:lvl4pPr>
            <a:lvl5pPr marL="2014972" indent="0">
              <a:buNone/>
              <a:defRPr sz="1763">
                <a:solidFill>
                  <a:schemeClr val="tx1">
                    <a:tint val="75000"/>
                  </a:schemeClr>
                </a:solidFill>
              </a:defRPr>
            </a:lvl5pPr>
            <a:lvl6pPr marL="2518715" indent="0">
              <a:buNone/>
              <a:defRPr sz="1763">
                <a:solidFill>
                  <a:schemeClr val="tx1">
                    <a:tint val="75000"/>
                  </a:schemeClr>
                </a:solidFill>
              </a:defRPr>
            </a:lvl6pPr>
            <a:lvl7pPr marL="3022458" indent="0">
              <a:buNone/>
              <a:defRPr sz="1763">
                <a:solidFill>
                  <a:schemeClr val="tx1">
                    <a:tint val="75000"/>
                  </a:schemeClr>
                </a:solidFill>
              </a:defRPr>
            </a:lvl7pPr>
            <a:lvl8pPr marL="3526201" indent="0">
              <a:buNone/>
              <a:defRPr sz="1763">
                <a:solidFill>
                  <a:schemeClr val="tx1">
                    <a:tint val="75000"/>
                  </a:schemeClr>
                </a:solidFill>
              </a:defRPr>
            </a:lvl8pPr>
            <a:lvl9pPr marL="4029944" indent="0">
              <a:buNone/>
              <a:defRPr sz="176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4B16A8-FF88-B6F9-B396-181EE3C46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BEF41CA-5D4F-4AD9-BD4E-0B09A3C89D95}" type="datetimeFigureOut">
              <a:rPr lang="en-US"/>
              <a:pPr>
                <a:defRPr/>
              </a:pPr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FB80AF-CD05-A2D8-C3DB-5109A6ABB1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A584D0-6716-7F57-5A73-671B1B30D8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07E2E1B-B2D2-4D2C-9666-3463056A3062}" type="slidenum">
              <a:rPr lang="en-US" altLang="pl-PL"/>
              <a:pPr>
                <a:defRPr/>
              </a:pPr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13669482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23548" y="2011568"/>
            <a:ext cx="5709206" cy="4794530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0671" y="2011568"/>
            <a:ext cx="5709206" cy="4794530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5C9F5B48-B6D5-2B4C-CA4A-1AC2009D11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02EF0C8-02E9-4653-9C25-6FD7924F4887}" type="datetimeFigureOut">
              <a:rPr lang="en-US"/>
              <a:pPr>
                <a:defRPr/>
              </a:pPr>
              <a:t>10/23/2025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36BC5D14-B29D-CA5A-813F-16C3A417A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9A5F82C-D52C-D78C-D558-513B4AD62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DB40A1D-2C4F-4423-BBFE-182E7C2811A9}" type="slidenum">
              <a:rPr lang="en-US" altLang="pl-PL"/>
              <a:pPr>
                <a:defRPr/>
              </a:pPr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17545696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5298" y="402314"/>
            <a:ext cx="11586329" cy="1460574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25298" y="1852393"/>
            <a:ext cx="5682968" cy="907829"/>
          </a:xfrm>
        </p:spPr>
        <p:txBody>
          <a:bodyPr anchor="b"/>
          <a:lstStyle>
            <a:lvl1pPr marL="0" indent="0">
              <a:buNone/>
              <a:defRPr sz="2644" b="1"/>
            </a:lvl1pPr>
            <a:lvl2pPr marL="503743" indent="0">
              <a:buNone/>
              <a:defRPr sz="2204" b="1"/>
            </a:lvl2pPr>
            <a:lvl3pPr marL="1007486" indent="0">
              <a:buNone/>
              <a:defRPr sz="1983" b="1"/>
            </a:lvl3pPr>
            <a:lvl4pPr marL="1511229" indent="0">
              <a:buNone/>
              <a:defRPr sz="1763" b="1"/>
            </a:lvl4pPr>
            <a:lvl5pPr marL="2014972" indent="0">
              <a:buNone/>
              <a:defRPr sz="1763" b="1"/>
            </a:lvl5pPr>
            <a:lvl6pPr marL="2518715" indent="0">
              <a:buNone/>
              <a:defRPr sz="1763" b="1"/>
            </a:lvl6pPr>
            <a:lvl7pPr marL="3022458" indent="0">
              <a:buNone/>
              <a:defRPr sz="1763" b="1"/>
            </a:lvl7pPr>
            <a:lvl8pPr marL="3526201" indent="0">
              <a:buNone/>
              <a:defRPr sz="1763" b="1"/>
            </a:lvl8pPr>
            <a:lvl9pPr marL="4029944" indent="0">
              <a:buNone/>
              <a:defRPr sz="1763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25298" y="2760222"/>
            <a:ext cx="5682968" cy="4059870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800672" y="1852393"/>
            <a:ext cx="5710955" cy="907829"/>
          </a:xfrm>
        </p:spPr>
        <p:txBody>
          <a:bodyPr anchor="b"/>
          <a:lstStyle>
            <a:lvl1pPr marL="0" indent="0">
              <a:buNone/>
              <a:defRPr sz="2644" b="1"/>
            </a:lvl1pPr>
            <a:lvl2pPr marL="503743" indent="0">
              <a:buNone/>
              <a:defRPr sz="2204" b="1"/>
            </a:lvl2pPr>
            <a:lvl3pPr marL="1007486" indent="0">
              <a:buNone/>
              <a:defRPr sz="1983" b="1"/>
            </a:lvl3pPr>
            <a:lvl4pPr marL="1511229" indent="0">
              <a:buNone/>
              <a:defRPr sz="1763" b="1"/>
            </a:lvl4pPr>
            <a:lvl5pPr marL="2014972" indent="0">
              <a:buNone/>
              <a:defRPr sz="1763" b="1"/>
            </a:lvl5pPr>
            <a:lvl6pPr marL="2518715" indent="0">
              <a:buNone/>
              <a:defRPr sz="1763" b="1"/>
            </a:lvl6pPr>
            <a:lvl7pPr marL="3022458" indent="0">
              <a:buNone/>
              <a:defRPr sz="1763" b="1"/>
            </a:lvl7pPr>
            <a:lvl8pPr marL="3526201" indent="0">
              <a:buNone/>
              <a:defRPr sz="1763" b="1"/>
            </a:lvl8pPr>
            <a:lvl9pPr marL="4029944" indent="0">
              <a:buNone/>
              <a:defRPr sz="1763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800672" y="2760222"/>
            <a:ext cx="5710955" cy="4059870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9D473F65-C1FD-C952-FEC8-DA70CFD231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9E92198-A0E4-41E6-A3C7-B8D1F909F3B6}" type="datetimeFigureOut">
              <a:rPr lang="en-US"/>
              <a:pPr>
                <a:defRPr/>
              </a:pPr>
              <a:t>10/23/2025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DE9678FE-80DF-500A-0C62-7B7DE3F2E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FF1AE81-4DD5-C280-2C50-F59CF054F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F52B6D6-56CF-4D80-AF19-6B9800527540}" type="slidenum">
              <a:rPr lang="en-US" altLang="pl-PL"/>
              <a:pPr>
                <a:defRPr/>
              </a:pPr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4707543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E1399281-3289-7D6D-3C52-8AF3DA1830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69BBF0B-8925-4E35-9B6D-3DA90E80EE5B}" type="datetimeFigureOut">
              <a:rPr lang="en-US"/>
              <a:pPr>
                <a:defRPr/>
              </a:pPr>
              <a:t>10/23/2025</a:t>
            </a:fld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0659C796-9B9D-DD27-9906-16C5C5DE76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DDB07CE-0D29-FE6C-43A6-170042ECC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3A3BDFD-003B-4740-91B4-218C85727B8E}" type="slidenum">
              <a:rPr lang="en-US" altLang="pl-PL"/>
              <a:pPr>
                <a:defRPr/>
              </a:pPr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33445535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0B225C41-3B6B-E51B-D8D6-C6A50E2384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D7622E0-ECAC-48B9-9568-EB1A2FADCC8C}" type="datetimeFigureOut">
              <a:rPr lang="en-US"/>
              <a:pPr>
                <a:defRPr/>
              </a:pPr>
              <a:t>10/23/2025</a:t>
            </a:fld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9AFF961C-C368-5ABB-FD0C-A1F2145CF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5F856365-52F5-2418-49E7-4F2BF2F732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6576D92-A2F0-4970-8D3B-680979692950}" type="slidenum">
              <a:rPr lang="en-US" altLang="pl-PL"/>
              <a:pPr>
                <a:defRPr/>
              </a:pPr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929204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5298" y="503767"/>
            <a:ext cx="4332629" cy="1763183"/>
          </a:xfrm>
        </p:spPr>
        <p:txBody>
          <a:bodyPr anchor="b"/>
          <a:lstStyle>
            <a:lvl1pPr>
              <a:defRPr sz="3526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0956" y="1087996"/>
            <a:ext cx="6800671" cy="5370013"/>
          </a:xfrm>
        </p:spPr>
        <p:txBody>
          <a:bodyPr/>
          <a:lstStyle>
            <a:lvl1pPr>
              <a:defRPr sz="3526"/>
            </a:lvl1pPr>
            <a:lvl2pPr>
              <a:defRPr sz="3085"/>
            </a:lvl2pPr>
            <a:lvl3pPr>
              <a:defRPr sz="2644"/>
            </a:lvl3pPr>
            <a:lvl4pPr>
              <a:defRPr sz="2204"/>
            </a:lvl4pPr>
            <a:lvl5pPr>
              <a:defRPr sz="2204"/>
            </a:lvl5pPr>
            <a:lvl6pPr>
              <a:defRPr sz="2204"/>
            </a:lvl6pPr>
            <a:lvl7pPr>
              <a:defRPr sz="2204"/>
            </a:lvl7pPr>
            <a:lvl8pPr>
              <a:defRPr sz="2204"/>
            </a:lvl8pPr>
            <a:lvl9pPr>
              <a:defRPr sz="2204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25298" y="2266950"/>
            <a:ext cx="4332629" cy="4199805"/>
          </a:xfrm>
        </p:spPr>
        <p:txBody>
          <a:bodyPr/>
          <a:lstStyle>
            <a:lvl1pPr marL="0" indent="0">
              <a:buNone/>
              <a:defRPr sz="1763"/>
            </a:lvl1pPr>
            <a:lvl2pPr marL="503743" indent="0">
              <a:buNone/>
              <a:defRPr sz="1543"/>
            </a:lvl2pPr>
            <a:lvl3pPr marL="1007486" indent="0">
              <a:buNone/>
              <a:defRPr sz="1322"/>
            </a:lvl3pPr>
            <a:lvl4pPr marL="1511229" indent="0">
              <a:buNone/>
              <a:defRPr sz="1102"/>
            </a:lvl4pPr>
            <a:lvl5pPr marL="2014972" indent="0">
              <a:buNone/>
              <a:defRPr sz="1102"/>
            </a:lvl5pPr>
            <a:lvl6pPr marL="2518715" indent="0">
              <a:buNone/>
              <a:defRPr sz="1102"/>
            </a:lvl6pPr>
            <a:lvl7pPr marL="3022458" indent="0">
              <a:buNone/>
              <a:defRPr sz="1102"/>
            </a:lvl7pPr>
            <a:lvl8pPr marL="3526201" indent="0">
              <a:buNone/>
              <a:defRPr sz="1102"/>
            </a:lvl8pPr>
            <a:lvl9pPr marL="4029944" indent="0">
              <a:buNone/>
              <a:defRPr sz="1102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25EA723-1DA9-7F7B-1AD7-28A8FF223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BC467AB-5CFA-44E9-8B76-CAD7A4A701F1}" type="datetimeFigureOut">
              <a:rPr lang="en-US"/>
              <a:pPr>
                <a:defRPr/>
              </a:pPr>
              <a:t>10/23/2025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7ABF8248-DAB1-997D-BA03-C5C55350B2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C77786D-A942-0124-E8A7-FBD2AC53B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ED2AB47-90AC-4810-914E-ED17D42A21B8}" type="slidenum">
              <a:rPr lang="en-US" altLang="pl-PL"/>
              <a:pPr>
                <a:defRPr/>
              </a:pPr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20812366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5298" y="503767"/>
            <a:ext cx="4332629" cy="1763183"/>
          </a:xfrm>
        </p:spPr>
        <p:txBody>
          <a:bodyPr anchor="b"/>
          <a:lstStyle>
            <a:lvl1pPr>
              <a:defRPr sz="3526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710956" y="1087996"/>
            <a:ext cx="6800671" cy="5370013"/>
          </a:xfrm>
        </p:spPr>
        <p:txBody>
          <a:bodyPr rtlCol="0">
            <a:normAutofit/>
          </a:bodyPr>
          <a:lstStyle>
            <a:lvl1pPr marL="0" indent="0">
              <a:buNone/>
              <a:defRPr sz="3526"/>
            </a:lvl1pPr>
            <a:lvl2pPr marL="503743" indent="0">
              <a:buNone/>
              <a:defRPr sz="3085"/>
            </a:lvl2pPr>
            <a:lvl3pPr marL="1007486" indent="0">
              <a:buNone/>
              <a:defRPr sz="2644"/>
            </a:lvl3pPr>
            <a:lvl4pPr marL="1511229" indent="0">
              <a:buNone/>
              <a:defRPr sz="2204"/>
            </a:lvl4pPr>
            <a:lvl5pPr marL="2014972" indent="0">
              <a:buNone/>
              <a:defRPr sz="2204"/>
            </a:lvl5pPr>
            <a:lvl6pPr marL="2518715" indent="0">
              <a:buNone/>
              <a:defRPr sz="2204"/>
            </a:lvl6pPr>
            <a:lvl7pPr marL="3022458" indent="0">
              <a:buNone/>
              <a:defRPr sz="2204"/>
            </a:lvl7pPr>
            <a:lvl8pPr marL="3526201" indent="0">
              <a:buNone/>
              <a:defRPr sz="2204"/>
            </a:lvl8pPr>
            <a:lvl9pPr marL="4029944" indent="0">
              <a:buNone/>
              <a:defRPr sz="2204"/>
            </a:lvl9pPr>
          </a:lstStyle>
          <a:p>
            <a:pPr lvl="0"/>
            <a:r>
              <a:rPr lang="pl-PL" noProof="0"/>
              <a:t>Kliknij ikonę, aby dodać obraz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25298" y="2266950"/>
            <a:ext cx="4332629" cy="4199805"/>
          </a:xfrm>
        </p:spPr>
        <p:txBody>
          <a:bodyPr/>
          <a:lstStyle>
            <a:lvl1pPr marL="0" indent="0">
              <a:buNone/>
              <a:defRPr sz="1763"/>
            </a:lvl1pPr>
            <a:lvl2pPr marL="503743" indent="0">
              <a:buNone/>
              <a:defRPr sz="1543"/>
            </a:lvl2pPr>
            <a:lvl3pPr marL="1007486" indent="0">
              <a:buNone/>
              <a:defRPr sz="1322"/>
            </a:lvl3pPr>
            <a:lvl4pPr marL="1511229" indent="0">
              <a:buNone/>
              <a:defRPr sz="1102"/>
            </a:lvl4pPr>
            <a:lvl5pPr marL="2014972" indent="0">
              <a:buNone/>
              <a:defRPr sz="1102"/>
            </a:lvl5pPr>
            <a:lvl6pPr marL="2518715" indent="0">
              <a:buNone/>
              <a:defRPr sz="1102"/>
            </a:lvl6pPr>
            <a:lvl7pPr marL="3022458" indent="0">
              <a:buNone/>
              <a:defRPr sz="1102"/>
            </a:lvl7pPr>
            <a:lvl8pPr marL="3526201" indent="0">
              <a:buNone/>
              <a:defRPr sz="1102"/>
            </a:lvl8pPr>
            <a:lvl9pPr marL="4029944" indent="0">
              <a:buNone/>
              <a:defRPr sz="1102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F7C84A85-BE10-755E-C51D-6FA6D97DEF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A7EC56-B98B-4166-BD2D-1152FFF553F5}" type="datetimeFigureOut">
              <a:rPr lang="en-US"/>
              <a:pPr>
                <a:defRPr/>
              </a:pPr>
              <a:t>10/23/2025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AC19EC81-9318-7513-2A88-F0DFE9D3A5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AB200AA-6447-32E0-FF37-3074307B6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7FB5458-CEE6-44EE-9128-3730EB91AFB7}" type="slidenum">
              <a:rPr lang="en-US" altLang="pl-PL"/>
              <a:pPr>
                <a:defRPr/>
              </a:pPr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1383939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AF8096-8B79-AD23-B6B4-C1041939C5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718B7D7-C8E3-4F2C-9A34-5D91CF91A12D}" type="datetimeFigureOut">
              <a:rPr lang="en-US"/>
              <a:pPr>
                <a:defRPr/>
              </a:pPr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18EFD0-C830-B116-0BE1-F4C16EDBD4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6B71E8-CCE5-CED2-4001-BF73C7658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FACA48-CD1D-4520-A464-CA31FC687A06}" type="slidenum">
              <a:rPr lang="en-US" altLang="pl-PL"/>
              <a:pPr>
                <a:defRPr/>
              </a:pPr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1305192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613295" y="402314"/>
            <a:ext cx="2896582" cy="6403784"/>
          </a:xfrm>
        </p:spPr>
        <p:txBody>
          <a:bodyPr vert="eaVert"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23548" y="402314"/>
            <a:ext cx="8521829" cy="6403784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D6FBF3-6B5A-1010-D882-326DEBF55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3407CC-BA33-4E60-86B1-7B52A01DBD6F}" type="datetimeFigureOut">
              <a:rPr lang="en-US"/>
              <a:pPr>
                <a:defRPr/>
              </a:pPr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26C001-CD79-0AC6-0857-00BAB58EA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909FA7-B61C-8AAA-36F3-566853B73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1FBC7B3-7EE5-4AE2-AADE-2AEBE476AFC0}" type="slidenum">
              <a:rPr lang="en-US" altLang="pl-PL"/>
              <a:pPr>
                <a:defRPr/>
              </a:pPr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31984939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79178" y="1236678"/>
            <a:ext cx="10075069" cy="2630781"/>
          </a:xfrm>
        </p:spPr>
        <p:txBody>
          <a:bodyPr anchor="b"/>
          <a:lstStyle>
            <a:lvl1pPr algn="ctr">
              <a:defRPr sz="6611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79178" y="3968912"/>
            <a:ext cx="10075069" cy="1824404"/>
          </a:xfrm>
        </p:spPr>
        <p:txBody>
          <a:bodyPr/>
          <a:lstStyle>
            <a:lvl1pPr marL="0" indent="0" algn="ctr">
              <a:buNone/>
              <a:defRPr sz="2644"/>
            </a:lvl1pPr>
            <a:lvl2pPr marL="503743" indent="0" algn="ctr">
              <a:buNone/>
              <a:defRPr sz="2204"/>
            </a:lvl2pPr>
            <a:lvl3pPr marL="1007486" indent="0" algn="ctr">
              <a:buNone/>
              <a:defRPr sz="1983"/>
            </a:lvl3pPr>
            <a:lvl4pPr marL="1511229" indent="0" algn="ctr">
              <a:buNone/>
              <a:defRPr sz="1763"/>
            </a:lvl4pPr>
            <a:lvl5pPr marL="2014972" indent="0" algn="ctr">
              <a:buNone/>
              <a:defRPr sz="1763"/>
            </a:lvl5pPr>
            <a:lvl6pPr marL="2518715" indent="0" algn="ctr">
              <a:buNone/>
              <a:defRPr sz="1763"/>
            </a:lvl6pPr>
            <a:lvl7pPr marL="3022458" indent="0" algn="ctr">
              <a:buNone/>
              <a:defRPr sz="1763"/>
            </a:lvl7pPr>
            <a:lvl8pPr marL="3526201" indent="0" algn="ctr">
              <a:buNone/>
              <a:defRPr sz="1763"/>
            </a:lvl8pPr>
            <a:lvl9pPr marL="4029944" indent="0" algn="ctr">
              <a:buNone/>
              <a:defRPr sz="1763"/>
            </a:lvl9pPr>
          </a:lstStyle>
          <a:p>
            <a:r>
              <a:rPr lang="pl-PL"/>
              <a:t>Kliknij, aby edytować styl wzorca podtytułu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15EA0E-E124-FBD0-781F-665B492DF4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CBF91FF-C535-4D5D-BC2B-5DF80B70956B}" type="datetimeFigureOut">
              <a:rPr lang="en-US"/>
              <a:pPr>
                <a:defRPr/>
              </a:pPr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075F7A-BB53-D03B-42ED-061ED1415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D7333C-A04E-E0CA-727D-3EB1DC833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A4D170-B417-4389-90C4-69EC5B7B6FF9}" type="slidenum">
              <a:rPr lang="en-US" altLang="pl-PL"/>
              <a:pPr>
                <a:defRPr/>
              </a:pPr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17468289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65600" y="401638"/>
            <a:ext cx="10544400" cy="1460500"/>
          </a:xfrm>
        </p:spPr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>
              <a:buNone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167C0B-1E8D-5A23-7BC7-29346E42D3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A26932E-24C7-47C7-8A54-3CE11A7B6972}" type="datetimeFigureOut">
              <a:rPr lang="en-US"/>
              <a:pPr>
                <a:defRPr/>
              </a:pPr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BF50ED-0658-C2C7-68F0-15CC7F9DDA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F1DF61-0C99-5B23-7B84-4D3CE19EF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B4B60BB-8242-4D33-BCD0-13C8BE95D863}" type="slidenum">
              <a:rPr lang="en-US" altLang="pl-PL"/>
              <a:pPr>
                <a:defRPr/>
              </a:pPr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328906499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6551" y="1883878"/>
            <a:ext cx="11586329" cy="3143294"/>
          </a:xfrm>
        </p:spPr>
        <p:txBody>
          <a:bodyPr anchor="b"/>
          <a:lstStyle>
            <a:lvl1pPr>
              <a:defRPr sz="6611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6551" y="5056909"/>
            <a:ext cx="11586329" cy="1652984"/>
          </a:xfrm>
        </p:spPr>
        <p:txBody>
          <a:bodyPr/>
          <a:lstStyle>
            <a:lvl1pPr marL="0" indent="0">
              <a:buNone/>
              <a:defRPr sz="2644">
                <a:solidFill>
                  <a:schemeClr val="tx1">
                    <a:tint val="75000"/>
                  </a:schemeClr>
                </a:solidFill>
              </a:defRPr>
            </a:lvl1pPr>
            <a:lvl2pPr marL="503743" indent="0">
              <a:buNone/>
              <a:defRPr sz="2204">
                <a:solidFill>
                  <a:schemeClr val="tx1">
                    <a:tint val="75000"/>
                  </a:schemeClr>
                </a:solidFill>
              </a:defRPr>
            </a:lvl2pPr>
            <a:lvl3pPr marL="1007486" indent="0">
              <a:buNone/>
              <a:defRPr sz="1983">
                <a:solidFill>
                  <a:schemeClr val="tx1">
                    <a:tint val="75000"/>
                  </a:schemeClr>
                </a:solidFill>
              </a:defRPr>
            </a:lvl3pPr>
            <a:lvl4pPr marL="1511229" indent="0">
              <a:buNone/>
              <a:defRPr sz="1763">
                <a:solidFill>
                  <a:schemeClr val="tx1">
                    <a:tint val="75000"/>
                  </a:schemeClr>
                </a:solidFill>
              </a:defRPr>
            </a:lvl4pPr>
            <a:lvl5pPr marL="2014972" indent="0">
              <a:buNone/>
              <a:defRPr sz="1763">
                <a:solidFill>
                  <a:schemeClr val="tx1">
                    <a:tint val="75000"/>
                  </a:schemeClr>
                </a:solidFill>
              </a:defRPr>
            </a:lvl5pPr>
            <a:lvl6pPr marL="2518715" indent="0">
              <a:buNone/>
              <a:defRPr sz="1763">
                <a:solidFill>
                  <a:schemeClr val="tx1">
                    <a:tint val="75000"/>
                  </a:schemeClr>
                </a:solidFill>
              </a:defRPr>
            </a:lvl6pPr>
            <a:lvl7pPr marL="3022458" indent="0">
              <a:buNone/>
              <a:defRPr sz="1763">
                <a:solidFill>
                  <a:schemeClr val="tx1">
                    <a:tint val="75000"/>
                  </a:schemeClr>
                </a:solidFill>
              </a:defRPr>
            </a:lvl7pPr>
            <a:lvl8pPr marL="3526201" indent="0">
              <a:buNone/>
              <a:defRPr sz="1763">
                <a:solidFill>
                  <a:schemeClr val="tx1">
                    <a:tint val="75000"/>
                  </a:schemeClr>
                </a:solidFill>
              </a:defRPr>
            </a:lvl8pPr>
            <a:lvl9pPr marL="4029944" indent="0">
              <a:buNone/>
              <a:defRPr sz="176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82E669-4250-0D9C-559A-7C8D1D36D1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EE4F390-5921-4AFF-8417-BA8C5ECF4980}" type="datetimeFigureOut">
              <a:rPr lang="en-US"/>
              <a:pPr>
                <a:defRPr/>
              </a:pPr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1BC2F9-7F2E-905D-21C9-13C7152AB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1C4CED-F7AB-357C-041A-3F7B0C66AC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047847F-7AA4-4D9A-9841-0A35CF3E9796}" type="slidenum">
              <a:rPr lang="en-US" altLang="pl-PL"/>
              <a:pPr>
                <a:defRPr/>
              </a:pPr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135633787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23548" y="2011568"/>
            <a:ext cx="5709206" cy="4794530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0671" y="2011568"/>
            <a:ext cx="5709206" cy="4794530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BAE117E0-57FC-125B-0E00-CCA3589E9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28C7765-75A3-4597-B7BD-EE59A4859598}" type="datetimeFigureOut">
              <a:rPr lang="en-US"/>
              <a:pPr>
                <a:defRPr/>
              </a:pPr>
              <a:t>10/23/2025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ACB6678F-130E-D7AB-B34E-7F90F59DC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7B537CC-6B57-F6DE-2B95-3E58177AB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80C05F3-373D-44FE-ADA6-F14C43C803FF}" type="slidenum">
              <a:rPr lang="en-US" altLang="pl-PL"/>
              <a:pPr>
                <a:defRPr/>
              </a:pPr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65028585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5298" y="402314"/>
            <a:ext cx="11586329" cy="1460574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25298" y="1852393"/>
            <a:ext cx="5682968" cy="907829"/>
          </a:xfrm>
        </p:spPr>
        <p:txBody>
          <a:bodyPr anchor="b"/>
          <a:lstStyle>
            <a:lvl1pPr marL="0" indent="0">
              <a:buNone/>
              <a:defRPr sz="2644" b="1"/>
            </a:lvl1pPr>
            <a:lvl2pPr marL="503743" indent="0">
              <a:buNone/>
              <a:defRPr sz="2204" b="1"/>
            </a:lvl2pPr>
            <a:lvl3pPr marL="1007486" indent="0">
              <a:buNone/>
              <a:defRPr sz="1983" b="1"/>
            </a:lvl3pPr>
            <a:lvl4pPr marL="1511229" indent="0">
              <a:buNone/>
              <a:defRPr sz="1763" b="1"/>
            </a:lvl4pPr>
            <a:lvl5pPr marL="2014972" indent="0">
              <a:buNone/>
              <a:defRPr sz="1763" b="1"/>
            </a:lvl5pPr>
            <a:lvl6pPr marL="2518715" indent="0">
              <a:buNone/>
              <a:defRPr sz="1763" b="1"/>
            </a:lvl6pPr>
            <a:lvl7pPr marL="3022458" indent="0">
              <a:buNone/>
              <a:defRPr sz="1763" b="1"/>
            </a:lvl7pPr>
            <a:lvl8pPr marL="3526201" indent="0">
              <a:buNone/>
              <a:defRPr sz="1763" b="1"/>
            </a:lvl8pPr>
            <a:lvl9pPr marL="4029944" indent="0">
              <a:buNone/>
              <a:defRPr sz="1763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25298" y="2760222"/>
            <a:ext cx="5682968" cy="4059870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800672" y="1852393"/>
            <a:ext cx="5710955" cy="907829"/>
          </a:xfrm>
        </p:spPr>
        <p:txBody>
          <a:bodyPr anchor="b"/>
          <a:lstStyle>
            <a:lvl1pPr marL="0" indent="0">
              <a:buNone/>
              <a:defRPr sz="2644" b="1"/>
            </a:lvl1pPr>
            <a:lvl2pPr marL="503743" indent="0">
              <a:buNone/>
              <a:defRPr sz="2204" b="1"/>
            </a:lvl2pPr>
            <a:lvl3pPr marL="1007486" indent="0">
              <a:buNone/>
              <a:defRPr sz="1983" b="1"/>
            </a:lvl3pPr>
            <a:lvl4pPr marL="1511229" indent="0">
              <a:buNone/>
              <a:defRPr sz="1763" b="1"/>
            </a:lvl4pPr>
            <a:lvl5pPr marL="2014972" indent="0">
              <a:buNone/>
              <a:defRPr sz="1763" b="1"/>
            </a:lvl5pPr>
            <a:lvl6pPr marL="2518715" indent="0">
              <a:buNone/>
              <a:defRPr sz="1763" b="1"/>
            </a:lvl6pPr>
            <a:lvl7pPr marL="3022458" indent="0">
              <a:buNone/>
              <a:defRPr sz="1763" b="1"/>
            </a:lvl7pPr>
            <a:lvl8pPr marL="3526201" indent="0">
              <a:buNone/>
              <a:defRPr sz="1763" b="1"/>
            </a:lvl8pPr>
            <a:lvl9pPr marL="4029944" indent="0">
              <a:buNone/>
              <a:defRPr sz="1763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800672" y="2760222"/>
            <a:ext cx="5710955" cy="4059870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334936DB-DA6E-2A26-32DF-A00784B00B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00155E9-1EAD-4290-A1F9-EDA1D58AE51F}" type="datetimeFigureOut">
              <a:rPr lang="en-US"/>
              <a:pPr>
                <a:defRPr/>
              </a:pPr>
              <a:t>10/23/2025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094A8499-FC93-FE61-F81D-69940E05D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EE3C9CE9-BA61-ED41-21E9-5AF8507E1C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5F39746-A6A0-44B3-BFA0-B7DE3FF2377E}" type="slidenum">
              <a:rPr lang="en-US" altLang="pl-PL"/>
              <a:pPr>
                <a:defRPr/>
              </a:pPr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163080922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3BC2DCC5-4D9F-31EF-18CF-D1144055F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DB5FE7F-5F44-448A-8F4D-43B868533C81}" type="datetimeFigureOut">
              <a:rPr lang="en-US"/>
              <a:pPr>
                <a:defRPr/>
              </a:pPr>
              <a:t>10/23/2025</a:t>
            </a:fld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0234EEC3-47A7-A55D-E304-AE39855736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2BF6CA8A-20E1-EDB6-E885-346DD0D32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64BD495-5C4B-4755-A2A4-5499BB65CF64}" type="slidenum">
              <a:rPr lang="en-US" altLang="pl-PL"/>
              <a:pPr>
                <a:defRPr/>
              </a:pPr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154862220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C333AF13-DB22-32DE-4343-E69842AF4A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47A7F7C-71C9-49AC-88DF-F4078B207D3C}" type="datetimeFigureOut">
              <a:rPr lang="en-US"/>
              <a:pPr>
                <a:defRPr/>
              </a:pPr>
              <a:t>10/23/2025</a:t>
            </a:fld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FC6E2D93-5D29-7AB6-245B-6EE45B5EC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5F93CD6E-0107-2544-7EAA-741421907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F76F00F-F475-4F85-8EF5-742E911FD48C}" type="slidenum">
              <a:rPr lang="en-US" altLang="pl-PL"/>
              <a:pPr>
                <a:defRPr/>
              </a:pPr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68115761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5298" y="503767"/>
            <a:ext cx="4332629" cy="1763183"/>
          </a:xfrm>
        </p:spPr>
        <p:txBody>
          <a:bodyPr anchor="b"/>
          <a:lstStyle>
            <a:lvl1pPr>
              <a:defRPr sz="3526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0956" y="1087996"/>
            <a:ext cx="6800671" cy="5370013"/>
          </a:xfrm>
        </p:spPr>
        <p:txBody>
          <a:bodyPr/>
          <a:lstStyle>
            <a:lvl1pPr>
              <a:defRPr sz="3526"/>
            </a:lvl1pPr>
            <a:lvl2pPr>
              <a:defRPr sz="3085"/>
            </a:lvl2pPr>
            <a:lvl3pPr>
              <a:defRPr sz="2644"/>
            </a:lvl3pPr>
            <a:lvl4pPr>
              <a:defRPr sz="2204"/>
            </a:lvl4pPr>
            <a:lvl5pPr>
              <a:defRPr sz="2204"/>
            </a:lvl5pPr>
            <a:lvl6pPr>
              <a:defRPr sz="2204"/>
            </a:lvl6pPr>
            <a:lvl7pPr>
              <a:defRPr sz="2204"/>
            </a:lvl7pPr>
            <a:lvl8pPr>
              <a:defRPr sz="2204"/>
            </a:lvl8pPr>
            <a:lvl9pPr>
              <a:defRPr sz="2204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25298" y="2266950"/>
            <a:ext cx="4332629" cy="4199805"/>
          </a:xfrm>
        </p:spPr>
        <p:txBody>
          <a:bodyPr/>
          <a:lstStyle>
            <a:lvl1pPr marL="0" indent="0">
              <a:buNone/>
              <a:defRPr sz="1763"/>
            </a:lvl1pPr>
            <a:lvl2pPr marL="503743" indent="0">
              <a:buNone/>
              <a:defRPr sz="1543"/>
            </a:lvl2pPr>
            <a:lvl3pPr marL="1007486" indent="0">
              <a:buNone/>
              <a:defRPr sz="1322"/>
            </a:lvl3pPr>
            <a:lvl4pPr marL="1511229" indent="0">
              <a:buNone/>
              <a:defRPr sz="1102"/>
            </a:lvl4pPr>
            <a:lvl5pPr marL="2014972" indent="0">
              <a:buNone/>
              <a:defRPr sz="1102"/>
            </a:lvl5pPr>
            <a:lvl6pPr marL="2518715" indent="0">
              <a:buNone/>
              <a:defRPr sz="1102"/>
            </a:lvl6pPr>
            <a:lvl7pPr marL="3022458" indent="0">
              <a:buNone/>
              <a:defRPr sz="1102"/>
            </a:lvl7pPr>
            <a:lvl8pPr marL="3526201" indent="0">
              <a:buNone/>
              <a:defRPr sz="1102"/>
            </a:lvl8pPr>
            <a:lvl9pPr marL="4029944" indent="0">
              <a:buNone/>
              <a:defRPr sz="1102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F252FD06-2344-159A-F8FD-C52AF5296C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DAB4242-C5AE-4243-AB71-BAD583128A4A}" type="datetimeFigureOut">
              <a:rPr lang="en-US"/>
              <a:pPr>
                <a:defRPr/>
              </a:pPr>
              <a:t>10/23/2025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EFC9704-4B26-FAC5-B4C4-0C1EEE0189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87AECF06-263B-7992-5D69-51556A844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DB66485-3924-471E-8588-FE6979DFB570}" type="slidenum">
              <a:rPr lang="en-US" altLang="pl-PL"/>
              <a:pPr>
                <a:defRPr/>
              </a:pPr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69207857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5298" y="503767"/>
            <a:ext cx="4332629" cy="1763183"/>
          </a:xfrm>
        </p:spPr>
        <p:txBody>
          <a:bodyPr anchor="b"/>
          <a:lstStyle>
            <a:lvl1pPr>
              <a:defRPr sz="3526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710956" y="1087996"/>
            <a:ext cx="6800671" cy="5370013"/>
          </a:xfrm>
        </p:spPr>
        <p:txBody>
          <a:bodyPr rtlCol="0">
            <a:normAutofit/>
          </a:bodyPr>
          <a:lstStyle>
            <a:lvl1pPr marL="0" indent="0">
              <a:buNone/>
              <a:defRPr sz="3526"/>
            </a:lvl1pPr>
            <a:lvl2pPr marL="503743" indent="0">
              <a:buNone/>
              <a:defRPr sz="3085"/>
            </a:lvl2pPr>
            <a:lvl3pPr marL="1007486" indent="0">
              <a:buNone/>
              <a:defRPr sz="2644"/>
            </a:lvl3pPr>
            <a:lvl4pPr marL="1511229" indent="0">
              <a:buNone/>
              <a:defRPr sz="2204"/>
            </a:lvl4pPr>
            <a:lvl5pPr marL="2014972" indent="0">
              <a:buNone/>
              <a:defRPr sz="2204"/>
            </a:lvl5pPr>
            <a:lvl6pPr marL="2518715" indent="0">
              <a:buNone/>
              <a:defRPr sz="2204"/>
            </a:lvl6pPr>
            <a:lvl7pPr marL="3022458" indent="0">
              <a:buNone/>
              <a:defRPr sz="2204"/>
            </a:lvl7pPr>
            <a:lvl8pPr marL="3526201" indent="0">
              <a:buNone/>
              <a:defRPr sz="2204"/>
            </a:lvl8pPr>
            <a:lvl9pPr marL="4029944" indent="0">
              <a:buNone/>
              <a:defRPr sz="2204"/>
            </a:lvl9pPr>
          </a:lstStyle>
          <a:p>
            <a:pPr lvl="0"/>
            <a:r>
              <a:rPr lang="pl-PL" noProof="0"/>
              <a:t>Kliknij ikonę, aby dodać obraz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25298" y="2266950"/>
            <a:ext cx="4332629" cy="4199805"/>
          </a:xfrm>
        </p:spPr>
        <p:txBody>
          <a:bodyPr/>
          <a:lstStyle>
            <a:lvl1pPr marL="0" indent="0">
              <a:buNone/>
              <a:defRPr sz="1763"/>
            </a:lvl1pPr>
            <a:lvl2pPr marL="503743" indent="0">
              <a:buNone/>
              <a:defRPr sz="1543"/>
            </a:lvl2pPr>
            <a:lvl3pPr marL="1007486" indent="0">
              <a:buNone/>
              <a:defRPr sz="1322"/>
            </a:lvl3pPr>
            <a:lvl4pPr marL="1511229" indent="0">
              <a:buNone/>
              <a:defRPr sz="1102"/>
            </a:lvl4pPr>
            <a:lvl5pPr marL="2014972" indent="0">
              <a:buNone/>
              <a:defRPr sz="1102"/>
            </a:lvl5pPr>
            <a:lvl6pPr marL="2518715" indent="0">
              <a:buNone/>
              <a:defRPr sz="1102"/>
            </a:lvl6pPr>
            <a:lvl7pPr marL="3022458" indent="0">
              <a:buNone/>
              <a:defRPr sz="1102"/>
            </a:lvl7pPr>
            <a:lvl8pPr marL="3526201" indent="0">
              <a:buNone/>
              <a:defRPr sz="1102"/>
            </a:lvl8pPr>
            <a:lvl9pPr marL="4029944" indent="0">
              <a:buNone/>
              <a:defRPr sz="1102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0517F654-E9BA-5478-D77E-203B6DD341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9BF0E64-07EF-48C5-9556-D6634696B61A}" type="datetimeFigureOut">
              <a:rPr lang="en-US"/>
              <a:pPr>
                <a:defRPr/>
              </a:pPr>
              <a:t>10/23/2025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F462296-3D6F-6CAC-76C5-368E718145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6B9750F1-C725-1243-2112-8B9657DA0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F88A59-D602-4DB7-B30A-6D21DE0EB471}" type="slidenum">
              <a:rPr lang="en-US" altLang="pl-PL"/>
              <a:pPr>
                <a:defRPr/>
              </a:pPr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367114103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03CA98-09A8-2492-186A-3B25E3D1F4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C74F13E-5155-416A-BB8D-5221D49CD642}" type="datetimeFigureOut">
              <a:rPr lang="en-US"/>
              <a:pPr>
                <a:defRPr/>
              </a:pPr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4AB6B2-08A8-8184-6A7E-B5D90BD0AF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A9F1B9-5AF7-2176-B7FF-404A043B2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3CCFEB9-02CA-4ED2-80C4-FACB98514D3E}" type="slidenum">
              <a:rPr lang="en-US" altLang="pl-PL"/>
              <a:pPr>
                <a:defRPr/>
              </a:pPr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138873402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613295" y="402314"/>
            <a:ext cx="2896582" cy="6403784"/>
          </a:xfrm>
        </p:spPr>
        <p:txBody>
          <a:bodyPr vert="eaVert"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23548" y="402314"/>
            <a:ext cx="8521829" cy="6403784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48F0CE-48AB-1D41-CE4C-0B132105F4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36866E0-CE65-41CC-B06A-98A01098968A}" type="datetimeFigureOut">
              <a:rPr lang="en-US"/>
              <a:pPr>
                <a:defRPr/>
              </a:pPr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C506EC-46F3-BC39-65CB-6089E34C58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A6D458-F367-31E0-F6C5-043DDD81A9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6F733F6-9D88-4004-9C02-5DA0439FDB8A}" type="slidenum">
              <a:rPr lang="en-US" altLang="pl-PL"/>
              <a:pPr>
                <a:defRPr/>
              </a:pPr>
              <a:t>‹#›</a:t>
            </a:fld>
            <a:endParaRPr lang="en-US" altLang="pl-PL"/>
          </a:p>
        </p:txBody>
      </p:sp>
    </p:spTree>
    <p:extLst>
      <p:ext uri="{BB962C8B-B14F-4D97-AF65-F5344CB8AC3E}">
        <p14:creationId xmlns:p14="http://schemas.microsoft.com/office/powerpoint/2010/main" val="167458850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Relationship Id="rId13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DF69428B-D8C1-1CB1-9052-12EFF7F28D7A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923925" y="401638"/>
            <a:ext cx="11585575" cy="1460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l-PL" altLang="pl-PL"/>
              <a:t>Kliknij, aby edytować styl</a:t>
            </a:r>
            <a:endParaRPr lang="en-US" altLang="pl-PL"/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C637EF41-7916-0E55-5B38-82F8BB933053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923925" y="2011363"/>
            <a:ext cx="11585575" cy="4794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l-PL" altLang="pl-PL"/>
              <a:t>Kliknij, aby edytować style wzorca tekstu</a:t>
            </a:r>
          </a:p>
          <a:p>
            <a:pPr lvl="1"/>
            <a:r>
              <a:rPr lang="pl-PL" altLang="pl-PL"/>
              <a:t>Drugi poziom</a:t>
            </a:r>
          </a:p>
          <a:p>
            <a:pPr lvl="2"/>
            <a:r>
              <a:rPr lang="pl-PL" altLang="pl-PL"/>
              <a:t>Trzeci poziom</a:t>
            </a:r>
          </a:p>
          <a:p>
            <a:pPr lvl="3"/>
            <a:r>
              <a:rPr lang="pl-PL" altLang="pl-PL"/>
              <a:t>Czwarty poziom</a:t>
            </a:r>
          </a:p>
          <a:p>
            <a:pPr lvl="4"/>
            <a:r>
              <a:rPr lang="pl-PL" altLang="pl-PL"/>
              <a:t>Piąty poziom</a:t>
            </a:r>
            <a:endParaRPr lang="en-US" alt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25F847-E1A2-36BA-C7CD-79C0869B86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23925" y="7004050"/>
            <a:ext cx="3022600" cy="4016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34CE4B53-5155-49DE-B2D1-BCFD4E4D67CA}" type="datetimeFigureOut">
              <a:rPr lang="en-US"/>
              <a:pPr>
                <a:defRPr/>
              </a:pPr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DAB1D7-21E3-2EE7-48CF-2CB88695C7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449763" y="7004050"/>
            <a:ext cx="4533900" cy="4016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63E939-40D0-BEC3-9908-BCCB22ECB0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86900" y="7004050"/>
            <a:ext cx="3022600" cy="401638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30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CDF7626E-F54A-4CB1-96D0-081EFFE8F8FB}" type="slidenum">
              <a:rPr lang="en-US" altLang="pl-PL"/>
              <a:pPr>
                <a:defRPr/>
              </a:pPr>
              <a:t>‹#›</a:t>
            </a:fld>
            <a:endParaRPr lang="en-US" altLang="pl-P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006475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800" kern="1200">
          <a:solidFill>
            <a:schemeClr val="tx1"/>
          </a:solidFill>
          <a:latin typeface="+mj-lt"/>
          <a:ea typeface="+mj-ea"/>
          <a:cs typeface="+mj-cs"/>
        </a:defRPr>
      </a:lvl1pPr>
      <a:lvl2pPr algn="l" defTabSz="1006475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800">
          <a:solidFill>
            <a:schemeClr val="tx1"/>
          </a:solidFill>
          <a:latin typeface="Calibri Light" panose="020F0302020204030204" pitchFamily="34" charset="0"/>
        </a:defRPr>
      </a:lvl2pPr>
      <a:lvl3pPr algn="l" defTabSz="1006475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800">
          <a:solidFill>
            <a:schemeClr val="tx1"/>
          </a:solidFill>
          <a:latin typeface="Calibri Light" panose="020F0302020204030204" pitchFamily="34" charset="0"/>
        </a:defRPr>
      </a:lvl3pPr>
      <a:lvl4pPr algn="l" defTabSz="1006475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800">
          <a:solidFill>
            <a:schemeClr val="tx1"/>
          </a:solidFill>
          <a:latin typeface="Calibri Light" panose="020F0302020204030204" pitchFamily="34" charset="0"/>
        </a:defRPr>
      </a:lvl4pPr>
      <a:lvl5pPr algn="l" defTabSz="1006475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800">
          <a:solidFill>
            <a:schemeClr val="tx1"/>
          </a:solidFill>
          <a:latin typeface="Calibri Light" panose="020F0302020204030204" pitchFamily="34" charset="0"/>
        </a:defRPr>
      </a:lvl5pPr>
      <a:lvl6pPr marL="457200" algn="l" defTabSz="1006475" rtl="0" fontAlgn="base">
        <a:lnSpc>
          <a:spcPct val="90000"/>
        </a:lnSpc>
        <a:spcBef>
          <a:spcPct val="0"/>
        </a:spcBef>
        <a:spcAft>
          <a:spcPct val="0"/>
        </a:spcAft>
        <a:defRPr sz="4800">
          <a:solidFill>
            <a:schemeClr val="tx1"/>
          </a:solidFill>
          <a:latin typeface="Calibri Light" panose="020F0302020204030204" pitchFamily="34" charset="0"/>
        </a:defRPr>
      </a:lvl6pPr>
      <a:lvl7pPr marL="914400" algn="l" defTabSz="1006475" rtl="0" fontAlgn="base">
        <a:lnSpc>
          <a:spcPct val="90000"/>
        </a:lnSpc>
        <a:spcBef>
          <a:spcPct val="0"/>
        </a:spcBef>
        <a:spcAft>
          <a:spcPct val="0"/>
        </a:spcAft>
        <a:defRPr sz="4800">
          <a:solidFill>
            <a:schemeClr val="tx1"/>
          </a:solidFill>
          <a:latin typeface="Calibri Light" panose="020F0302020204030204" pitchFamily="34" charset="0"/>
        </a:defRPr>
      </a:lvl7pPr>
      <a:lvl8pPr marL="1371600" algn="l" defTabSz="1006475" rtl="0" fontAlgn="base">
        <a:lnSpc>
          <a:spcPct val="90000"/>
        </a:lnSpc>
        <a:spcBef>
          <a:spcPct val="0"/>
        </a:spcBef>
        <a:spcAft>
          <a:spcPct val="0"/>
        </a:spcAft>
        <a:defRPr sz="4800">
          <a:solidFill>
            <a:schemeClr val="tx1"/>
          </a:solidFill>
          <a:latin typeface="Calibri Light" panose="020F0302020204030204" pitchFamily="34" charset="0"/>
        </a:defRPr>
      </a:lvl8pPr>
      <a:lvl9pPr marL="1828800" algn="l" defTabSz="1006475" rtl="0" fontAlgn="base">
        <a:lnSpc>
          <a:spcPct val="90000"/>
        </a:lnSpc>
        <a:spcBef>
          <a:spcPct val="0"/>
        </a:spcBef>
        <a:spcAft>
          <a:spcPct val="0"/>
        </a:spcAft>
        <a:defRPr sz="4800">
          <a:solidFill>
            <a:schemeClr val="tx1"/>
          </a:solidFill>
          <a:latin typeface="Calibri Light" panose="020F0302020204030204" pitchFamily="34" charset="0"/>
        </a:defRPr>
      </a:lvl9pPr>
    </p:titleStyle>
    <p:bodyStyle>
      <a:lvl1pPr marL="250825" indent="-250825" algn="l" defTabSz="1006475" rtl="0" eaLnBrk="0" fontAlgn="base" hangingPunct="0">
        <a:lnSpc>
          <a:spcPct val="90000"/>
        </a:lnSpc>
        <a:spcBef>
          <a:spcPts val="1100"/>
        </a:spcBef>
        <a:spcAft>
          <a:spcPct val="0"/>
        </a:spcAft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1pPr>
      <a:lvl2pPr marL="754063" indent="-250825" algn="l" defTabSz="1006475" rtl="0" eaLnBrk="0" fontAlgn="base" hangingPunct="0">
        <a:lnSpc>
          <a:spcPct val="90000"/>
        </a:lnSpc>
        <a:spcBef>
          <a:spcPts val="550"/>
        </a:spcBef>
        <a:spcAft>
          <a:spcPct val="0"/>
        </a:spcAft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2pPr>
      <a:lvl3pPr marL="1258888" indent="-250825" algn="l" defTabSz="1006475" rtl="0" eaLnBrk="0" fontAlgn="base" hangingPunct="0">
        <a:lnSpc>
          <a:spcPct val="90000"/>
        </a:lnSpc>
        <a:spcBef>
          <a:spcPts val="550"/>
        </a:spcBef>
        <a:spcAft>
          <a:spcPct val="0"/>
        </a:spcAft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762125" indent="-250825" algn="l" defTabSz="1006475" rtl="0" eaLnBrk="0" fontAlgn="base" hangingPunct="0">
        <a:lnSpc>
          <a:spcPct val="90000"/>
        </a:lnSpc>
        <a:spcBef>
          <a:spcPts val="550"/>
        </a:spcBef>
        <a:spcAft>
          <a:spcPct val="0"/>
        </a:spcAft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2265363" indent="-250825" algn="l" defTabSz="1006475" rtl="0" eaLnBrk="0" fontAlgn="base" hangingPunct="0">
        <a:lnSpc>
          <a:spcPct val="90000"/>
        </a:lnSpc>
        <a:spcBef>
          <a:spcPts val="550"/>
        </a:spcBef>
        <a:spcAft>
          <a:spcPct val="0"/>
        </a:spcAft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5pPr>
      <a:lvl6pPr marL="2770586" indent="-251871" algn="l" defTabSz="1007486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3" kern="1200">
          <a:solidFill>
            <a:schemeClr val="tx1"/>
          </a:solidFill>
          <a:latin typeface="+mn-lt"/>
          <a:ea typeface="+mn-ea"/>
          <a:cs typeface="+mn-cs"/>
        </a:defRPr>
      </a:lvl6pPr>
      <a:lvl7pPr marL="3274329" indent="-251871" algn="l" defTabSz="1007486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3" kern="1200">
          <a:solidFill>
            <a:schemeClr val="tx1"/>
          </a:solidFill>
          <a:latin typeface="+mn-lt"/>
          <a:ea typeface="+mn-ea"/>
          <a:cs typeface="+mn-cs"/>
        </a:defRPr>
      </a:lvl7pPr>
      <a:lvl8pPr marL="3778072" indent="-251871" algn="l" defTabSz="1007486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3" kern="1200">
          <a:solidFill>
            <a:schemeClr val="tx1"/>
          </a:solidFill>
          <a:latin typeface="+mn-lt"/>
          <a:ea typeface="+mn-ea"/>
          <a:cs typeface="+mn-cs"/>
        </a:defRPr>
      </a:lvl8pPr>
      <a:lvl9pPr marL="4281815" indent="-251871" algn="l" defTabSz="1007486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1pPr>
      <a:lvl2pPr marL="503743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2pPr>
      <a:lvl3pPr marL="1007486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3pPr>
      <a:lvl4pPr marL="1511229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4pPr>
      <a:lvl5pPr marL="2014972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5pPr>
      <a:lvl6pPr marL="2518715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6pPr>
      <a:lvl7pPr marL="3022458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7pPr>
      <a:lvl8pPr marL="3526201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8pPr>
      <a:lvl9pPr marL="4029944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Placeholder 1">
            <a:extLst>
              <a:ext uri="{FF2B5EF4-FFF2-40B4-BE49-F238E27FC236}">
                <a16:creationId xmlns:a16="http://schemas.microsoft.com/office/drawing/2014/main" id="{4E878DE8-B5A4-1BF1-C776-C5969401A8A9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923925" y="401638"/>
            <a:ext cx="11585575" cy="1460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l-PL" altLang="pl-PL"/>
              <a:t>Kliknij, aby edytować styl</a:t>
            </a:r>
            <a:endParaRPr lang="en-US" altLang="pl-PL"/>
          </a:p>
        </p:txBody>
      </p:sp>
      <p:sp>
        <p:nvSpPr>
          <p:cNvPr id="2051" name="Text Placeholder 2">
            <a:extLst>
              <a:ext uri="{FF2B5EF4-FFF2-40B4-BE49-F238E27FC236}">
                <a16:creationId xmlns:a16="http://schemas.microsoft.com/office/drawing/2014/main" id="{ED8694F3-91DE-4AD2-17C0-137E7F10F49D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923925" y="2011363"/>
            <a:ext cx="11585575" cy="4794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l-PL" altLang="pl-PL"/>
              <a:t>Kliknij, aby edytować style wzorca tekstu</a:t>
            </a:r>
          </a:p>
          <a:p>
            <a:pPr lvl="1"/>
            <a:r>
              <a:rPr lang="pl-PL" altLang="pl-PL"/>
              <a:t>Drugi poziom</a:t>
            </a:r>
          </a:p>
          <a:p>
            <a:pPr lvl="2"/>
            <a:r>
              <a:rPr lang="pl-PL" altLang="pl-PL"/>
              <a:t>Trzeci poziom</a:t>
            </a:r>
          </a:p>
          <a:p>
            <a:pPr lvl="3"/>
            <a:r>
              <a:rPr lang="pl-PL" altLang="pl-PL"/>
              <a:t>Czwarty poziom</a:t>
            </a:r>
          </a:p>
          <a:p>
            <a:pPr lvl="4"/>
            <a:r>
              <a:rPr lang="pl-PL" altLang="pl-PL"/>
              <a:t>Piąty poziom</a:t>
            </a:r>
            <a:endParaRPr lang="en-US" altLang="pl-P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9EC368-7137-1DFA-31DA-D581BDE99F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23925" y="7004050"/>
            <a:ext cx="3022600" cy="4016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D1A63EB-8F1B-4796-9E8F-5BE836CDC234}" type="datetimeFigureOut">
              <a:rPr lang="en-US"/>
              <a:pPr>
                <a:defRPr/>
              </a:pPr>
              <a:t>10/23/2025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5376C7-F28C-8362-5F4C-C28848B5BD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449763" y="7004050"/>
            <a:ext cx="4533900" cy="4016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06F13A-D80B-976E-4ECC-9C4B76D6E6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86900" y="7004050"/>
            <a:ext cx="3022600" cy="401638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30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3A32C780-685E-4C24-BE47-A8A835C83BDB}" type="slidenum">
              <a:rPr lang="en-US" altLang="pl-PL"/>
              <a:pPr>
                <a:defRPr/>
              </a:pPr>
              <a:t>‹#›</a:t>
            </a:fld>
            <a:endParaRPr lang="en-US" altLang="pl-P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</p:sldLayoutIdLst>
  <p:txStyles>
    <p:titleStyle>
      <a:lvl1pPr algn="l" defTabSz="1006475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800" kern="1200">
          <a:solidFill>
            <a:schemeClr val="tx1"/>
          </a:solidFill>
          <a:latin typeface="+mj-lt"/>
          <a:ea typeface="+mj-ea"/>
          <a:cs typeface="+mj-cs"/>
        </a:defRPr>
      </a:lvl1pPr>
      <a:lvl2pPr algn="l" defTabSz="1006475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800">
          <a:solidFill>
            <a:schemeClr val="tx1"/>
          </a:solidFill>
          <a:latin typeface="Calibri Light" panose="020F0302020204030204" pitchFamily="34" charset="0"/>
        </a:defRPr>
      </a:lvl2pPr>
      <a:lvl3pPr algn="l" defTabSz="1006475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800">
          <a:solidFill>
            <a:schemeClr val="tx1"/>
          </a:solidFill>
          <a:latin typeface="Calibri Light" panose="020F0302020204030204" pitchFamily="34" charset="0"/>
        </a:defRPr>
      </a:lvl3pPr>
      <a:lvl4pPr algn="l" defTabSz="1006475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800">
          <a:solidFill>
            <a:schemeClr val="tx1"/>
          </a:solidFill>
          <a:latin typeface="Calibri Light" panose="020F0302020204030204" pitchFamily="34" charset="0"/>
        </a:defRPr>
      </a:lvl4pPr>
      <a:lvl5pPr algn="l" defTabSz="1006475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800">
          <a:solidFill>
            <a:schemeClr val="tx1"/>
          </a:solidFill>
          <a:latin typeface="Calibri Light" panose="020F0302020204030204" pitchFamily="34" charset="0"/>
        </a:defRPr>
      </a:lvl5pPr>
      <a:lvl6pPr marL="457200" algn="l" defTabSz="1006475" rtl="0" fontAlgn="base">
        <a:lnSpc>
          <a:spcPct val="90000"/>
        </a:lnSpc>
        <a:spcBef>
          <a:spcPct val="0"/>
        </a:spcBef>
        <a:spcAft>
          <a:spcPct val="0"/>
        </a:spcAft>
        <a:defRPr sz="4800">
          <a:solidFill>
            <a:schemeClr val="tx1"/>
          </a:solidFill>
          <a:latin typeface="Calibri Light" panose="020F0302020204030204" pitchFamily="34" charset="0"/>
        </a:defRPr>
      </a:lvl6pPr>
      <a:lvl7pPr marL="914400" algn="l" defTabSz="1006475" rtl="0" fontAlgn="base">
        <a:lnSpc>
          <a:spcPct val="90000"/>
        </a:lnSpc>
        <a:spcBef>
          <a:spcPct val="0"/>
        </a:spcBef>
        <a:spcAft>
          <a:spcPct val="0"/>
        </a:spcAft>
        <a:defRPr sz="4800">
          <a:solidFill>
            <a:schemeClr val="tx1"/>
          </a:solidFill>
          <a:latin typeface="Calibri Light" panose="020F0302020204030204" pitchFamily="34" charset="0"/>
        </a:defRPr>
      </a:lvl7pPr>
      <a:lvl8pPr marL="1371600" algn="l" defTabSz="1006475" rtl="0" fontAlgn="base">
        <a:lnSpc>
          <a:spcPct val="90000"/>
        </a:lnSpc>
        <a:spcBef>
          <a:spcPct val="0"/>
        </a:spcBef>
        <a:spcAft>
          <a:spcPct val="0"/>
        </a:spcAft>
        <a:defRPr sz="4800">
          <a:solidFill>
            <a:schemeClr val="tx1"/>
          </a:solidFill>
          <a:latin typeface="Calibri Light" panose="020F0302020204030204" pitchFamily="34" charset="0"/>
        </a:defRPr>
      </a:lvl8pPr>
      <a:lvl9pPr marL="1828800" algn="l" defTabSz="1006475" rtl="0" fontAlgn="base">
        <a:lnSpc>
          <a:spcPct val="90000"/>
        </a:lnSpc>
        <a:spcBef>
          <a:spcPct val="0"/>
        </a:spcBef>
        <a:spcAft>
          <a:spcPct val="0"/>
        </a:spcAft>
        <a:defRPr sz="4800">
          <a:solidFill>
            <a:schemeClr val="tx1"/>
          </a:solidFill>
          <a:latin typeface="Calibri Light" panose="020F0302020204030204" pitchFamily="34" charset="0"/>
        </a:defRPr>
      </a:lvl9pPr>
    </p:titleStyle>
    <p:bodyStyle>
      <a:lvl1pPr marL="250825" indent="-250825" algn="l" defTabSz="1006475" rtl="0" eaLnBrk="0" fontAlgn="base" hangingPunct="0">
        <a:lnSpc>
          <a:spcPct val="90000"/>
        </a:lnSpc>
        <a:spcBef>
          <a:spcPts val="1100"/>
        </a:spcBef>
        <a:spcAft>
          <a:spcPct val="0"/>
        </a:spcAft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1pPr>
      <a:lvl2pPr marL="754063" indent="-250825" algn="l" defTabSz="1006475" rtl="0" eaLnBrk="0" fontAlgn="base" hangingPunct="0">
        <a:lnSpc>
          <a:spcPct val="90000"/>
        </a:lnSpc>
        <a:spcBef>
          <a:spcPts val="550"/>
        </a:spcBef>
        <a:spcAft>
          <a:spcPct val="0"/>
        </a:spcAft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2pPr>
      <a:lvl3pPr marL="1258888" indent="-250825" algn="l" defTabSz="1006475" rtl="0" eaLnBrk="0" fontAlgn="base" hangingPunct="0">
        <a:lnSpc>
          <a:spcPct val="90000"/>
        </a:lnSpc>
        <a:spcBef>
          <a:spcPts val="550"/>
        </a:spcBef>
        <a:spcAft>
          <a:spcPct val="0"/>
        </a:spcAft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762125" indent="-250825" algn="l" defTabSz="1006475" rtl="0" eaLnBrk="0" fontAlgn="base" hangingPunct="0">
        <a:lnSpc>
          <a:spcPct val="90000"/>
        </a:lnSpc>
        <a:spcBef>
          <a:spcPts val="550"/>
        </a:spcBef>
        <a:spcAft>
          <a:spcPct val="0"/>
        </a:spcAft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2265363" indent="-250825" algn="l" defTabSz="1006475" rtl="0" eaLnBrk="0" fontAlgn="base" hangingPunct="0">
        <a:lnSpc>
          <a:spcPct val="90000"/>
        </a:lnSpc>
        <a:spcBef>
          <a:spcPts val="550"/>
        </a:spcBef>
        <a:spcAft>
          <a:spcPct val="0"/>
        </a:spcAft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5pPr>
      <a:lvl6pPr marL="2770586" indent="-251871" algn="l" defTabSz="1007486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3" kern="1200">
          <a:solidFill>
            <a:schemeClr val="tx1"/>
          </a:solidFill>
          <a:latin typeface="+mn-lt"/>
          <a:ea typeface="+mn-ea"/>
          <a:cs typeface="+mn-cs"/>
        </a:defRPr>
      </a:lvl6pPr>
      <a:lvl7pPr marL="3274329" indent="-251871" algn="l" defTabSz="1007486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3" kern="1200">
          <a:solidFill>
            <a:schemeClr val="tx1"/>
          </a:solidFill>
          <a:latin typeface="+mn-lt"/>
          <a:ea typeface="+mn-ea"/>
          <a:cs typeface="+mn-cs"/>
        </a:defRPr>
      </a:lvl7pPr>
      <a:lvl8pPr marL="3778072" indent="-251871" algn="l" defTabSz="1007486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3" kern="1200">
          <a:solidFill>
            <a:schemeClr val="tx1"/>
          </a:solidFill>
          <a:latin typeface="+mn-lt"/>
          <a:ea typeface="+mn-ea"/>
          <a:cs typeface="+mn-cs"/>
        </a:defRPr>
      </a:lvl8pPr>
      <a:lvl9pPr marL="4281815" indent="-251871" algn="l" defTabSz="1007486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1pPr>
      <a:lvl2pPr marL="503743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2pPr>
      <a:lvl3pPr marL="1007486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3pPr>
      <a:lvl4pPr marL="1511229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4pPr>
      <a:lvl5pPr marL="2014972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5pPr>
      <a:lvl6pPr marL="2518715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6pPr>
      <a:lvl7pPr marL="3022458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7pPr>
      <a:lvl8pPr marL="3526201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8pPr>
      <a:lvl9pPr marL="4029944" algn="l" defTabSz="1007486" rtl="0" eaLnBrk="1" latinLnBrk="0" hangingPunct="1">
        <a:defRPr sz="198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image" Target="../media/image4.jpe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 bwMode="auto"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1">
            <a:extLst>
              <a:ext uri="{FF2B5EF4-FFF2-40B4-BE49-F238E27FC236}">
                <a16:creationId xmlns:a16="http://schemas.microsoft.com/office/drawing/2014/main" id="{F9918B1A-F433-5034-226F-5A7B8785FB69}"/>
              </a:ext>
            </a:extLst>
          </p:cNvPr>
          <p:cNvSpPr>
            <a:spLocks/>
          </p:cNvSpPr>
          <p:nvPr/>
        </p:nvSpPr>
        <p:spPr bwMode="auto">
          <a:xfrm>
            <a:off x="3291840" y="1645920"/>
            <a:ext cx="7772400" cy="12801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45720" rIns="45720" wrap="square">
            <a:spAutoFit/>
          </a:bodyPr>
          <a:lstStyle>
            <a:lvl1pPr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9pPr>
          </a:lstStyle>
          <a:p>
            <a:pPr eaLnBrk="1" algn="l">
              <a:spcAft>
                <a:spcPts val="200"/>
              </a:spcAft>
              <a:defRPr sz="2800" b="1">
                <a:solidFill>
                  <a:srgbClr val="191919"/>
                </a:solidFill>
                <a:latin typeface="Calibri"/>
              </a:defRPr>
            </a:pPr>
            <a:r>
              <a:t>Algorytm „Neuro-Curiosity”</a:t>
            </a:r>
            <a:endParaRPr lang="en-US" altLang="pl-PL" sz="3200"/>
          </a:p>
          <a:p>
            <a:pPr algn="l">
              <a:spcAft>
                <a:spcPts val="0"/>
              </a:spcAft>
              <a:defRPr sz="2100" b="1">
                <a:solidFill>
                  <a:srgbClr val="990000"/>
                </a:solidFill>
                <a:latin typeface="Calibri"/>
              </a:defRPr>
            </a:pPr>
            <a:r>
              <a:t>do optymalizacji strategii sterowania pojazdów autonomicznych</a:t>
            </a:r>
          </a:p>
        </p:txBody>
      </p:sp>
      <p:sp>
        <p:nvSpPr>
          <p:cNvPr id="5123" name="Rectangle 2">
            <a:extLst>
              <a:ext uri="{FF2B5EF4-FFF2-40B4-BE49-F238E27FC236}">
                <a16:creationId xmlns:a16="http://schemas.microsoft.com/office/drawing/2014/main" id="{BED88773-34FF-5715-264E-12601F55D8C3}"/>
              </a:ext>
            </a:extLst>
          </p:cNvPr>
          <p:cNvSpPr>
            <a:spLocks/>
          </p:cNvSpPr>
          <p:nvPr/>
        </p:nvSpPr>
        <p:spPr bwMode="auto">
          <a:xfrm>
            <a:off x="3291840" y="3017520"/>
            <a:ext cx="7772400" cy="7315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45720" rIns="45720">
            <a:spAutoFit/>
          </a:bodyPr>
          <a:lstStyle>
            <a:lvl1pPr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9pPr>
          </a:lstStyle>
          <a:p>
            <a:pPr eaLnBrk="1" algn="l">
              <a:spcAft>
                <a:spcPts val="200"/>
              </a:spcAft>
              <a:defRPr sz="1300" b="1">
                <a:solidFill>
                  <a:srgbClr val="006633"/>
                </a:solidFill>
                <a:latin typeface="Calibri"/>
              </a:defRPr>
            </a:pPr>
            <a:r>
              <a:t>PROGRAM INICJATYWA DOSKONAŁOŚCI – UCZELNIA BADAWCZA (IDUB)</a:t>
            </a:r>
            <a:endParaRPr lang="en-US" altLang="pl-PL" sz="1600">
              <a:solidFill>
                <a:srgbClr val="808080"/>
              </a:solidFill>
            </a:endParaRPr>
          </a:p>
          <a:p>
            <a:pPr algn="l">
              <a:spcAft>
                <a:spcPts val="0"/>
              </a:spcAft>
              <a:defRPr sz="1200" b="0">
                <a:solidFill>
                  <a:srgbClr val="505050"/>
                </a:solidFill>
                <a:latin typeface="Calibri"/>
              </a:defRPr>
            </a:pPr>
            <a:r>
              <a:t>Działanie D12: Wsparcie Kół Naukowych | POB 6: Inteligentne techniki informacyjne i sterowania</a:t>
            </a:r>
          </a:p>
        </p:txBody>
      </p:sp>
      <p:sp>
        <p:nvSpPr>
          <p:cNvPr id="5124" name="Rectangle 3">
            <a:extLst>
              <a:ext uri="{FF2B5EF4-FFF2-40B4-BE49-F238E27FC236}">
                <a16:creationId xmlns:a16="http://schemas.microsoft.com/office/drawing/2014/main" id="{A7E60247-E94E-65E4-BBBA-3BDC4AC33C83}"/>
              </a:ext>
            </a:extLst>
          </p:cNvPr>
          <p:cNvSpPr>
            <a:spLocks/>
          </p:cNvSpPr>
          <p:nvPr/>
        </p:nvSpPr>
        <p:spPr bwMode="auto">
          <a:xfrm>
            <a:off x="3291840" y="3840480"/>
            <a:ext cx="7772400" cy="7315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45720" rIns="45720" wrap="square">
            <a:spAutoFit/>
          </a:bodyPr>
          <a:lstStyle>
            <a:lvl1pPr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9pPr>
          </a:lstStyle>
          <a:p>
            <a:pPr eaLnBrk="1" algn="l">
              <a:spcAft>
                <a:spcPts val="200"/>
              </a:spcAft>
              <a:defRPr sz="1300" b="1">
                <a:solidFill>
                  <a:srgbClr val="191919"/>
                </a:solidFill>
                <a:latin typeface="Calibri"/>
              </a:defRPr>
            </a:pPr>
            <a:r>
              <a:t>Akademia Górniczo-Hutnicza im. Stanisława Staszica w Krakowie</a:t>
            </a:r>
          </a:p>
          <a:p>
            <a:pPr algn="l">
              <a:spcAft>
                <a:spcPts val="0"/>
              </a:spcAft>
              <a:defRPr sz="1200" b="0">
                <a:solidFill>
                  <a:srgbClr val="505050"/>
                </a:solidFill>
                <a:latin typeface="Calibri"/>
              </a:defRPr>
            </a:pPr>
            <a:r>
              <a:t>Koło Naukowe SENSOR • WIMiR (Katedra Automatyzacji Procesów) &amp; Wydział Odlewnictwa</a:t>
            </a:r>
          </a:p>
        </p:txBody>
      </p:sp>
      <p:sp>
        <p:nvSpPr>
          <p:cNvPr id="5125" name="pole tekstowe 1">
            <a:extLst>
              <a:ext uri="{FF2B5EF4-FFF2-40B4-BE49-F238E27FC236}">
                <a16:creationId xmlns:a16="http://schemas.microsoft.com/office/drawing/2014/main" id="{8D9BE915-A55A-4DA9-73CA-E97AB9E949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4360" y="5440680"/>
            <a:ext cx="7315200" cy="10515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9pPr>
          </a:lstStyle>
          <a:p>
            <a:pPr algn="l">
              <a:spcAft>
                <a:spcPts val="200"/>
              </a:spcAft>
              <a:defRPr sz="1300" b="1">
                <a:solidFill>
                  <a:srgbClr val="191919"/>
                </a:solidFill>
                <a:latin typeface="Calibri"/>
              </a:defRPr>
            </a:pPr>
            <a:r>
              <a:t>Opiekun projektu: dr hab. inż. Krzysztof Lalik, prof. AGH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505050"/>
                </a:solidFill>
                <a:latin typeface="Calibri"/>
              </a:defRPr>
            </a:pPr>
            <a:r>
              <a:t>Zespół projektowy: Patryk Pięta (Cyfrowy Bliźniak), Radosław Homa, Zuzanna Tatar, Jakub Pryma, Mikołaj Bednarczyk, Marcin Wandur, Adam Szulęcki, Maciej Wiszniewski, Dawid Piecuch</a:t>
            </a:r>
          </a:p>
        </p:txBody>
      </p:sp>
      <p:pic>
        <p:nvPicPr>
          <p:cNvPr id="2" name="Obraz 1" descr="Obraz zawierający rysowanie, szkic, sztuka, symbol&#10;&#10;Zawartość wygenerowana przez AI może być niepoprawna.">
            <a:extLst>
              <a:ext uri="{FF2B5EF4-FFF2-40B4-BE49-F238E27FC236}">
                <a16:creationId xmlns:a16="http://schemas.microsoft.com/office/drawing/2014/main" id="{4E151ED1-E252-7049-52A1-49AF3D4382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5833" y="743298"/>
            <a:ext cx="2237250" cy="2503855"/>
          </a:xfrm>
          <a:prstGeom prst="rect">
            <a:avLst/>
          </a:prstGeom>
        </p:spPr>
      </p:pic>
      <p:pic>
        <p:nvPicPr>
          <p:cNvPr id="3" name="Obraz 2" descr="Obraz zawierający krąg, design&#10;&#10;Zawartość wygenerowana przez AI może być niepoprawna.">
            <a:extLst>
              <a:ext uri="{FF2B5EF4-FFF2-40B4-BE49-F238E27FC236}">
                <a16:creationId xmlns:a16="http://schemas.microsoft.com/office/drawing/2014/main" id="{DD54D97F-6305-DB50-44CC-C8334A327A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7070" y="4657857"/>
            <a:ext cx="2876660" cy="1752600"/>
          </a:xfrm>
          <a:prstGeom prst="rect">
            <a:avLst/>
          </a:prstGeom>
        </p:spPr>
      </p:pic>
      <p:sp>
        <p:nvSpPr>
          <p:cNvPr id="5126" name="Rectangle 5125"/>
          <p:cNvSpPr/>
          <p:nvPr/>
        </p:nvSpPr>
        <p:spPr>
          <a:xfrm>
            <a:off x="10195560" y="2697480"/>
            <a:ext cx="324612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900" b="1">
                <a:solidFill>
                  <a:srgbClr val="191919"/>
                </a:solidFill>
                <a:latin typeface="Calibri"/>
              </a:defRPr>
            </a:pPr>
            <a:r>
              <a:t>PROJEKT FINANSOWANY ZE ŚRODKÓW IDUB D12 AGH</a:t>
            </a:r>
          </a:p>
          <a:p>
            <a:pPr algn="ctr">
              <a:spcAft>
                <a:spcPts val="0"/>
              </a:spcAft>
              <a:defRPr sz="900" b="1">
                <a:solidFill>
                  <a:srgbClr val="990000"/>
                </a:solidFill>
                <a:latin typeface="Calibri"/>
              </a:defRPr>
            </a:pPr>
            <a:r>
              <a:t>POB 6 • EDYCJA VI 2025/2026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57400" y="320040"/>
            <a:ext cx="10789920" cy="1188720"/>
          </a:xfrm>
        </p:spPr>
        <p:txBody>
          <a:bodyPr wrap="square"/>
          <a:lstStyle/>
          <a:p>
            <a:pPr algn="l">
              <a:spcAft>
                <a:spcPts val="200"/>
              </a:spcAft>
              <a:defRPr sz="1100" b="1">
                <a:solidFill>
                  <a:srgbClr val="990000"/>
                </a:solidFill>
                <a:latin typeface="Calibri"/>
              </a:defRPr>
            </a:pPr>
            <a:r>
              <a:t>PROBLEM BADAWCZY I MOTYWACJA</a:t>
            </a:r>
          </a:p>
          <a:p>
            <a:pPr algn="l">
              <a:spcAft>
                <a:spcPts val="0"/>
              </a:spcAft>
              <a:defRPr sz="2300" b="1">
                <a:solidFill>
                  <a:srgbClr val="191919"/>
                </a:solidFill>
                <a:latin typeface="Calibri"/>
              </a:defRPr>
            </a:pPr>
            <a:r>
              <a:t>Wyzwania intralogistyki 4.0 i ograniczenia klasycznego RL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691640"/>
            <a:ext cx="3840480" cy="4389120"/>
          </a:xfrm>
          <a:prstGeom prst="roundRect">
            <a:avLst/>
          </a:prstGeom>
          <a:solidFill>
            <a:srgbClr val="F8F9FA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200"/>
              </a:spcAft>
              <a:defRPr sz="1600" b="1">
                <a:solidFill>
                  <a:srgbClr val="990000"/>
                </a:solidFill>
                <a:latin typeface="Calibri"/>
              </a:defRPr>
            </a:pPr>
            <a:r>
              <a:t>1. Rzadkie nagrody (Sparse Rewards)</a:t>
            </a:r>
          </a:p>
          <a:p>
            <a:pPr algn="l">
              <a:spcAft>
                <a:spcPts val="600"/>
              </a:spcAft>
              <a:defRPr sz="1300" b="1">
                <a:solidFill>
                  <a:srgbClr val="191919"/>
                </a:solidFill>
                <a:latin typeface="Calibri"/>
              </a:defRPr>
            </a:pPr>
            <a:r>
              <a:t>Problem błądzenia losowego: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505050"/>
                </a:solidFill>
                <a:latin typeface="Calibri"/>
              </a:defRPr>
            </a:pPr>
            <a:r>
              <a:t>• W wielkopowierzchniowych magazynach nagroda pojawia się dopiero po dotarciu do stacji docelowej.</a:t>
            </a:r>
          </a:p>
          <a:p>
            <a:pPr algn="l">
              <a:spcAft>
                <a:spcPts val="600"/>
              </a:spcAft>
              <a:defRPr sz="1300" b="1">
                <a:solidFill>
                  <a:srgbClr val="191919"/>
                </a:solidFill>
                <a:latin typeface="Calibri"/>
              </a:defRPr>
            </a:pPr>
            <a:r>
              <a:t>Brak sygnału zwrotnego: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505050"/>
                </a:solidFill>
                <a:latin typeface="Calibri"/>
              </a:defRPr>
            </a:pPr>
            <a:r>
              <a:t>• Klasyczny agent RL wykonuje miliony bezużytecznych losowych ruchów w pustej przestrzeni.</a:t>
            </a:r>
          </a:p>
          <a:p>
            <a:pPr algn="l">
              <a:spcAft>
                <a:spcPts val="600"/>
              </a:spcAft>
              <a:defRPr sz="1300" b="1">
                <a:solidFill>
                  <a:srgbClr val="191919"/>
                </a:solidFill>
                <a:latin typeface="Calibri"/>
              </a:defRPr>
            </a:pPr>
            <a:r>
              <a:t>Sztuczny reward shaping: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505050"/>
                </a:solidFill>
                <a:latin typeface="Calibri"/>
              </a:defRPr>
            </a:pPr>
            <a:r>
              <a:t>• Ręczne projektowanie nagród cząstkowych prowadzi do nieoptymalnych i niebezpiecznych heurystyk.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0" y="1691640"/>
            <a:ext cx="3840480" cy="4389120"/>
          </a:xfrm>
          <a:prstGeom prst="roundRect">
            <a:avLst/>
          </a:prstGeom>
          <a:solidFill>
            <a:srgbClr val="F8F9FA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200"/>
              </a:spcAft>
              <a:defRPr sz="1600" b="1">
                <a:solidFill>
                  <a:srgbClr val="990000"/>
                </a:solidFill>
                <a:latin typeface="Calibri"/>
              </a:defRPr>
            </a:pPr>
            <a:r>
              <a:t>2. Klątwa wielowymiarowości</a:t>
            </a:r>
          </a:p>
          <a:p>
            <a:pPr algn="l">
              <a:spcAft>
                <a:spcPts val="600"/>
              </a:spcAft>
              <a:defRPr sz="1300" b="1">
                <a:solidFill>
                  <a:srgbClr val="191919"/>
                </a:solidFill>
                <a:latin typeface="Calibri"/>
              </a:defRPr>
            </a:pPr>
            <a:r>
              <a:t>Złożona percepcja sensoryczna: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505050"/>
                </a:solidFill>
                <a:latin typeface="Calibri"/>
              </a:defRPr>
            </a:pPr>
            <a:r>
              <a:t>• Chmury punktów LiDAR 2D/3D oraz kamery generują gigantyczną przestrzeń stanów (high-dimensional state space).</a:t>
            </a:r>
          </a:p>
          <a:p>
            <a:pPr algn="l">
              <a:spcAft>
                <a:spcPts val="600"/>
              </a:spcAft>
              <a:defRPr sz="1300" b="1">
                <a:solidFill>
                  <a:srgbClr val="191919"/>
                </a:solidFill>
                <a:latin typeface="Calibri"/>
              </a:defRPr>
            </a:pPr>
            <a:r>
              <a:t>Rzadkie stany użyteczne: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505050"/>
                </a:solidFill>
                <a:latin typeface="Calibri"/>
              </a:defRPr>
            </a:pPr>
            <a:r>
              <a:t>• Nowe punkty pomiarowe są silnie rozproszone, co drastycznie obniża pewność decyzji sterującej.</a:t>
            </a:r>
          </a:p>
          <a:p>
            <a:pPr algn="l">
              <a:spcAft>
                <a:spcPts val="600"/>
              </a:spcAft>
              <a:defRPr sz="1300" b="1">
                <a:solidFill>
                  <a:srgbClr val="191919"/>
                </a:solidFill>
                <a:latin typeface="Calibri"/>
              </a:defRPr>
            </a:pPr>
            <a:r>
              <a:t>Szum otoczenia: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505050"/>
                </a:solidFill>
                <a:latin typeface="Calibri"/>
              </a:defRPr>
            </a:pPr>
            <a:r>
              <a:t>• Zmienne oświetlenie, odblaski i detale tła zakłócają proces uczenia standardowych sieci neuronowych.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915400" y="1691640"/>
            <a:ext cx="3840480" cy="4389120"/>
          </a:xfrm>
          <a:prstGeom prst="roundRect">
            <a:avLst/>
          </a:prstGeom>
          <a:solidFill>
            <a:srgbClr val="F8F9FA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200"/>
              </a:spcAft>
              <a:defRPr sz="1600" b="1">
                <a:solidFill>
                  <a:srgbClr val="990000"/>
                </a:solidFill>
                <a:latin typeface="Calibri"/>
              </a:defRPr>
            </a:pPr>
            <a:r>
              <a:t>3. Eksploracja ε-greedy a sprzęt</a:t>
            </a:r>
          </a:p>
          <a:p>
            <a:pPr algn="l">
              <a:spcAft>
                <a:spcPts val="600"/>
              </a:spcAft>
              <a:defRPr sz="1300" b="1">
                <a:solidFill>
                  <a:srgbClr val="191919"/>
                </a:solidFill>
                <a:latin typeface="Calibri"/>
              </a:defRPr>
            </a:pPr>
            <a:r>
              <a:t>Niedopuszczalne kolizje: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505050"/>
                </a:solidFill>
                <a:latin typeface="Calibri"/>
              </a:defRPr>
            </a:pPr>
            <a:r>
              <a:t>• Eksploracja losowa w świecie fizycznym grozi uszkodzeniem AGV, regałów i ładunku.</a:t>
            </a:r>
          </a:p>
          <a:p>
            <a:pPr algn="l">
              <a:spcAft>
                <a:spcPts val="600"/>
              </a:spcAft>
              <a:defRPr sz="1300" b="1">
                <a:solidFill>
                  <a:srgbClr val="191919"/>
                </a:solidFill>
                <a:latin typeface="Calibri"/>
              </a:defRPr>
            </a:pPr>
            <a:r>
              <a:t>Wysoki wskaźnik szarpnięcia (Jerk):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505050"/>
                </a:solidFill>
                <a:latin typeface="Calibri"/>
              </a:defRPr>
            </a:pPr>
            <a:r>
              <a:t>• Losowe zmiany kierunku i prędkości prowadzą do przeciążeń kinematycznych i zużycia silników.</a:t>
            </a:r>
          </a:p>
          <a:p>
            <a:pPr algn="l">
              <a:spcAft>
                <a:spcPts val="600"/>
              </a:spcAft>
              <a:defRPr sz="1300" b="1">
                <a:solidFill>
                  <a:srgbClr val="191919"/>
                </a:solidFill>
                <a:latin typeface="Calibri"/>
              </a:defRPr>
            </a:pPr>
            <a:r>
              <a:t>Bariera Sim-to-Real: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505050"/>
                </a:solidFill>
                <a:latin typeface="Calibri"/>
              </a:defRPr>
            </a:pPr>
            <a:r>
              <a:t>• Polityka sterowania wytrenowana naiwnie w symulatorze zawodzi na rzeczywistym robocie przemysłowym.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57400" y="320040"/>
            <a:ext cx="10789920" cy="1188720"/>
          </a:xfrm>
        </p:spPr>
        <p:txBody>
          <a:bodyPr wrap="square"/>
          <a:lstStyle/>
          <a:p>
            <a:pPr algn="l">
              <a:spcAft>
                <a:spcPts val="200"/>
              </a:spcAft>
              <a:defRPr sz="1100" b="1">
                <a:solidFill>
                  <a:srgbClr val="990000"/>
                </a:solidFill>
                <a:latin typeface="Calibri"/>
              </a:defRPr>
            </a:pPr>
            <a:r>
              <a:t>ISTOTA INNOWACJI</a:t>
            </a:r>
          </a:p>
          <a:p>
            <a:pPr algn="l">
              <a:spcAft>
                <a:spcPts val="0"/>
              </a:spcAft>
              <a:defRPr sz="2300" b="1">
                <a:solidFill>
                  <a:srgbClr val="191919"/>
                </a:solidFill>
                <a:latin typeface="Calibri"/>
              </a:defRPr>
            </a:pPr>
            <a:r>
              <a:t>Wewnętrzna motywacja w sterowaniu: Architektura ICM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691640"/>
            <a:ext cx="5852160" cy="4389120"/>
          </a:xfrm>
          <a:prstGeom prst="roundRect">
            <a:avLst/>
          </a:prstGeom>
          <a:solidFill>
            <a:srgbClr val="F8F9FA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0"/>
              </a:spcAft>
              <a:defRPr sz="1700" b="1">
                <a:solidFill>
                  <a:srgbClr val="006633"/>
                </a:solidFill>
                <a:latin typeface="Calibri"/>
              </a:defRPr>
            </a:pPr>
            <a:r>
              <a:t>Intrinsic Curiosity Module (ICM)</a:t>
            </a:r>
          </a:p>
          <a:p>
            <a:pPr algn="l">
              <a:spcAft>
                <a:spcPts val="500"/>
              </a:spcAft>
              <a:defRPr sz="1300" b="1">
                <a:solidFill>
                  <a:srgbClr val="191919"/>
                </a:solidFill>
                <a:latin typeface="Calibri"/>
              </a:defRPr>
            </a:pPr>
            <a:r>
              <a:t>Biologiczna inspiracja:</a:t>
            </a:r>
          </a:p>
          <a:p>
            <a:pPr algn="l">
              <a:spcAft>
                <a:spcPts val="500"/>
              </a:spcAft>
              <a:defRPr sz="1300" b="0">
                <a:solidFill>
                  <a:srgbClr val="505050"/>
                </a:solidFill>
                <a:latin typeface="Calibri"/>
              </a:defRPr>
            </a:pPr>
            <a:r>
              <a:t>• Robot eksploruje środowisko motywowany ciekawością poznawczą – dąży do stanów, których jeszcze nie potrafi przewidzieć.</a:t>
            </a:r>
          </a:p>
          <a:p>
            <a:pPr algn="l">
              <a:spcAft>
                <a:spcPts val="500"/>
              </a:spcAft>
              <a:defRPr sz="1300" b="1">
                <a:solidFill>
                  <a:srgbClr val="191919"/>
                </a:solidFill>
                <a:latin typeface="Calibri"/>
              </a:defRPr>
            </a:pPr>
            <a:r>
              <a:t>Model dynamiki w przód (Forward Dynamics):</a:t>
            </a:r>
          </a:p>
          <a:p>
            <a:pPr algn="l">
              <a:spcAft>
                <a:spcPts val="500"/>
              </a:spcAft>
              <a:defRPr sz="1300" b="0">
                <a:solidFill>
                  <a:srgbClr val="505050"/>
                </a:solidFill>
                <a:latin typeface="Calibri"/>
              </a:defRPr>
            </a:pPr>
            <a:r>
              <a:t>• Sieć neuronowa przewiduje przyszły stan sensora: s_pred = f(s_t, a_t).</a:t>
            </a:r>
          </a:p>
          <a:p>
            <a:pPr algn="l">
              <a:spcAft>
                <a:spcPts val="500"/>
              </a:spcAft>
              <a:defRPr sz="1300" b="1">
                <a:solidFill>
                  <a:srgbClr val="191919"/>
                </a:solidFill>
                <a:latin typeface="Calibri"/>
              </a:defRPr>
            </a:pPr>
            <a:r>
              <a:t>Wewnętrzna nagroda (Intrinsic Reward):</a:t>
            </a:r>
          </a:p>
          <a:p>
            <a:pPr algn="l">
              <a:spcAft>
                <a:spcPts val="500"/>
              </a:spcAft>
              <a:defRPr sz="1300" b="0">
                <a:solidFill>
                  <a:srgbClr val="505050"/>
                </a:solidFill>
                <a:latin typeface="Calibri"/>
              </a:defRPr>
            </a:pPr>
            <a:r>
              <a:t>• Nagroda jest proporcjonalna do błędu predykcji: r_i = ||s_pred - s_{t+1}||².</a:t>
            </a:r>
          </a:p>
          <a:p>
            <a:pPr algn="l">
              <a:spcAft>
                <a:spcPts val="500"/>
              </a:spcAft>
              <a:defRPr sz="1300" b="1">
                <a:solidFill>
                  <a:srgbClr val="191919"/>
                </a:solidFill>
                <a:latin typeface="Calibri"/>
              </a:defRPr>
            </a:pPr>
            <a:r>
              <a:t>Inverse Dynamics Model:</a:t>
            </a:r>
          </a:p>
          <a:p>
            <a:pPr algn="l">
              <a:spcAft>
                <a:spcPts val="500"/>
              </a:spcAft>
              <a:defRPr sz="1300" b="0">
                <a:solidFill>
                  <a:srgbClr val="505050"/>
                </a:solidFill>
                <a:latin typeface="Calibri"/>
              </a:defRPr>
            </a:pPr>
            <a:r>
              <a:t>• Równoczesne przewidywanie wykonanej akcji a_t eliminuje wpływ szumu tła (TV problem) i ignoruje czynniki niezależne od robota.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720840" y="1691640"/>
            <a:ext cx="5852160" cy="4389120"/>
          </a:xfrm>
          <a:prstGeom prst="roundRect">
            <a:avLst/>
          </a:prstGeom>
          <a:solidFill>
            <a:srgbClr val="F0F8F3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0"/>
              </a:spcAft>
              <a:defRPr sz="1700" b="1">
                <a:solidFill>
                  <a:srgbClr val="006633"/>
                </a:solidFill>
                <a:latin typeface="Calibri"/>
              </a:defRPr>
            </a:pPr>
            <a:r>
              <a:t>Przewagi nad metodami klasycznymi</a:t>
            </a:r>
          </a:p>
          <a:p>
            <a:pPr algn="l">
              <a:spcAft>
                <a:spcPts val="500"/>
              </a:spcAft>
              <a:defRPr sz="1300" b="1">
                <a:solidFill>
                  <a:srgbClr val="191919"/>
                </a:solidFill>
                <a:latin typeface="Calibri"/>
              </a:defRPr>
            </a:pPr>
            <a:r>
              <a:t>Całkowita eliminacja błądzenia losowego:</a:t>
            </a:r>
          </a:p>
          <a:p>
            <a:pPr algn="l">
              <a:spcAft>
                <a:spcPts val="500"/>
              </a:spcAft>
              <a:defRPr sz="1300" b="0">
                <a:solidFill>
                  <a:srgbClr val="505050"/>
                </a:solidFill>
                <a:latin typeface="Calibri"/>
              </a:defRPr>
            </a:pPr>
            <a:r>
              <a:t>• Pojazd aktywnie bada nieznane korytarze i przeszkody, szybko budując trajektorie bezkolizyjne.</a:t>
            </a:r>
          </a:p>
          <a:p>
            <a:pPr algn="l">
              <a:spcAft>
                <a:spcPts val="500"/>
              </a:spcAft>
              <a:defRPr sz="1300" b="1">
                <a:solidFill>
                  <a:srgbClr val="191919"/>
                </a:solidFill>
                <a:latin typeface="Calibri"/>
              </a:defRPr>
            </a:pPr>
            <a:r>
              <a:t>Samosuperwizowana adaptacja:</a:t>
            </a:r>
          </a:p>
          <a:p>
            <a:pPr algn="l">
              <a:spcAft>
                <a:spcPts val="500"/>
              </a:spcAft>
              <a:defRPr sz="1300" b="0">
                <a:solidFill>
                  <a:srgbClr val="505050"/>
                </a:solidFill>
                <a:latin typeface="Calibri"/>
              </a:defRPr>
            </a:pPr>
            <a:r>
              <a:t>• Agent nie potrzebuje zewnętrznych punktów orientacyjnych ani gęstej siatki nagród.</a:t>
            </a:r>
          </a:p>
          <a:p>
            <a:pPr algn="l">
              <a:spcAft>
                <a:spcPts val="500"/>
              </a:spcAft>
              <a:defRPr sz="1300" b="1">
                <a:solidFill>
                  <a:srgbClr val="191919"/>
                </a:solidFill>
                <a:latin typeface="Calibri"/>
              </a:defRPr>
            </a:pPr>
            <a:r>
              <a:t>Formuła łącznej nagrody:</a:t>
            </a:r>
          </a:p>
          <a:p>
            <a:pPr algn="l">
              <a:spcAft>
                <a:spcPts val="500"/>
              </a:spcAft>
              <a:defRPr sz="1300" b="0">
                <a:solidFill>
                  <a:srgbClr val="505050"/>
                </a:solidFill>
                <a:latin typeface="Calibri"/>
              </a:defRPr>
            </a:pPr>
            <a:r>
              <a:t>• R_total = R_zewnętrzna (zadanie transportowe) + beta * R_wewnętrzna (Neuro-Curiosity).</a:t>
            </a:r>
          </a:p>
          <a:p>
            <a:pPr algn="l">
              <a:spcAft>
                <a:spcPts val="500"/>
              </a:spcAft>
              <a:defRPr sz="1300" b="1">
                <a:solidFill>
                  <a:srgbClr val="191919"/>
                </a:solidFill>
                <a:latin typeface="Calibri"/>
              </a:defRPr>
            </a:pPr>
            <a:r>
              <a:t>Odporność na dynamiczne przeszkody:</a:t>
            </a:r>
          </a:p>
          <a:p>
            <a:pPr algn="l">
              <a:spcAft>
                <a:spcPts val="500"/>
              </a:spcAft>
              <a:defRPr sz="1300" b="0">
                <a:solidFill>
                  <a:srgbClr val="505050"/>
                </a:solidFill>
                <a:latin typeface="Calibri"/>
              </a:defRPr>
            </a:pPr>
            <a:r>
              <a:t>• Pojawienie się nowej przeszkody (np. pieszy, paleta) generuje błąd predykcji, pobudzając ciekawość i bezpieczne ominięcie.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57400" y="320040"/>
            <a:ext cx="10789920" cy="1188720"/>
          </a:xfrm>
        </p:spPr>
        <p:txBody>
          <a:bodyPr wrap="square"/>
          <a:lstStyle/>
          <a:p>
            <a:pPr algn="l">
              <a:spcAft>
                <a:spcPts val="200"/>
              </a:spcAft>
              <a:defRPr sz="1100" b="1">
                <a:solidFill>
                  <a:srgbClr val="990000"/>
                </a:solidFill>
                <a:latin typeface="Calibri"/>
              </a:defRPr>
            </a:pPr>
            <a:r>
              <a:t>METODOLOGIA BADAŃ</a:t>
            </a:r>
          </a:p>
          <a:p>
            <a:pPr algn="l">
              <a:spcAft>
                <a:spcPts val="0"/>
              </a:spcAft>
              <a:defRPr sz="2300" b="1">
                <a:solidFill>
                  <a:srgbClr val="191919"/>
                </a:solidFill>
                <a:latin typeface="Calibri"/>
              </a:defRPr>
            </a:pPr>
            <a:r>
              <a:t>Transfer wiedzy Sim-to-Real i Domain Randomization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691640"/>
            <a:ext cx="3840480" cy="4389120"/>
          </a:xfrm>
          <a:prstGeom prst="roundRect">
            <a:avLst/>
          </a:prstGeom>
          <a:solidFill>
            <a:srgbClr val="F8F9FA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0"/>
              </a:spcAft>
              <a:defRPr sz="1600" b="1">
                <a:solidFill>
                  <a:srgbClr val="0D47A1"/>
                </a:solidFill>
                <a:latin typeface="Calibri"/>
              </a:defRPr>
            </a:pPr>
            <a:r>
              <a:t>Krok 1: NVIDIA Isaac Sim</a:t>
            </a:r>
          </a:p>
          <a:p>
            <a:pPr algn="l">
              <a:spcAft>
                <a:spcPts val="600"/>
              </a:spcAft>
              <a:defRPr sz="1300" b="1">
                <a:solidFill>
                  <a:srgbClr val="191919"/>
                </a:solidFill>
                <a:latin typeface="Calibri"/>
              </a:defRPr>
            </a:pPr>
            <a:r>
              <a:t>Fotorealistyczne środowisko 3D: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505050"/>
                </a:solidFill>
                <a:latin typeface="Calibri"/>
              </a:defRPr>
            </a:pPr>
            <a:r>
              <a:t>• Silnik NVIDIA PhysX oraz akceleracja RTX zapewniają wierne odwzorowanie fizyki i optyki.</a:t>
            </a:r>
          </a:p>
          <a:p>
            <a:pPr algn="l">
              <a:spcAft>
                <a:spcPts val="600"/>
              </a:spcAft>
              <a:defRPr sz="1300" b="1">
                <a:solidFill>
                  <a:srgbClr val="191919"/>
                </a:solidFill>
                <a:latin typeface="Calibri"/>
              </a:defRPr>
            </a:pPr>
            <a:r>
              <a:t>Emulacja sensorów w czasie rzeczywistym: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505050"/>
                </a:solidFill>
                <a:latin typeface="Calibri"/>
              </a:defRPr>
            </a:pPr>
            <a:r>
              <a:t>• Generowanie wiązek LiDAR 2D/3D, odczytów enkoderów, kamer RGB-D i dynamiki podwozia AGV.</a:t>
            </a:r>
          </a:p>
          <a:p>
            <a:pPr algn="l">
              <a:spcAft>
                <a:spcPts val="600"/>
              </a:spcAft>
              <a:defRPr sz="1300" b="1">
                <a:solidFill>
                  <a:srgbClr val="191919"/>
                </a:solidFill>
                <a:latin typeface="Calibri"/>
              </a:defRPr>
            </a:pPr>
            <a:r>
              <a:t>Wielowątkowy trening masowy: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505050"/>
                </a:solidFill>
                <a:latin typeface="Calibri"/>
              </a:defRPr>
            </a:pPr>
            <a:r>
              <a:t>• Tysiące wirtualnych instancji robotów trenujących równolegle w chmurze obliczeniowej.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0" y="1691640"/>
            <a:ext cx="3840480" cy="4389120"/>
          </a:xfrm>
          <a:prstGeom prst="roundRect">
            <a:avLst/>
          </a:prstGeom>
          <a:solidFill>
            <a:srgbClr val="F8F9FA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0"/>
              </a:spcAft>
              <a:defRPr sz="1600" b="1">
                <a:solidFill>
                  <a:srgbClr val="0D47A1"/>
                </a:solidFill>
                <a:latin typeface="Calibri"/>
              </a:defRPr>
            </a:pPr>
            <a:r>
              <a:t>Krok 2: Domain Randomization</a:t>
            </a:r>
          </a:p>
          <a:p>
            <a:pPr algn="l">
              <a:spcAft>
                <a:spcPts val="600"/>
              </a:spcAft>
              <a:defRPr sz="1300" b="1">
                <a:solidFill>
                  <a:srgbClr val="191919"/>
                </a:solidFill>
                <a:latin typeface="Calibri"/>
              </a:defRPr>
            </a:pPr>
            <a:r>
              <a:t>Zwalczanie Reality Gap: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505050"/>
                </a:solidFill>
                <a:latin typeface="Calibri"/>
              </a:defRPr>
            </a:pPr>
            <a:r>
              <a:t>• Sztuczne różnicowanie warunków symulacji uodparnia sieć neuronową na niedoskonałości świata realnego.</a:t>
            </a:r>
          </a:p>
          <a:p>
            <a:pPr algn="l">
              <a:spcAft>
                <a:spcPts val="600"/>
              </a:spcAft>
              <a:defRPr sz="1300" b="1">
                <a:solidFill>
                  <a:srgbClr val="191919"/>
                </a:solidFill>
                <a:latin typeface="Calibri"/>
              </a:defRPr>
            </a:pPr>
            <a:r>
              <a:t>Parametry losowe: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505050"/>
                </a:solidFill>
                <a:latin typeface="Calibri"/>
              </a:defRPr>
            </a:pPr>
            <a:r>
              <a:t>• • Współczynnik tarcia kół: mi in [0.35, 0.95]</a:t>
            </a:r>
            <a:br/>
            <a:r>
              <a:t>• Masa ładunku paletowego: +/- 30%</a:t>
            </a:r>
            <a:br/>
            <a:r>
              <a:t>• Opóźnienia magistrali komunikacyjnej (Jitter): 5-50 ms</a:t>
            </a:r>
          </a:p>
          <a:p>
            <a:pPr algn="l">
              <a:spcAft>
                <a:spcPts val="600"/>
              </a:spcAft>
              <a:defRPr sz="1300" b="1">
                <a:solidFill>
                  <a:srgbClr val="191919"/>
                </a:solidFill>
                <a:latin typeface="Calibri"/>
              </a:defRPr>
            </a:pPr>
            <a:r>
              <a:t>Szum sensoryczny: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505050"/>
                </a:solidFill>
                <a:latin typeface="Calibri"/>
              </a:defRPr>
            </a:pPr>
            <a:r>
              <a:t>• Symulacja dryfu żyroskopu, martwych stref LiDAR i zmiennego oświetlenia hali fabrycznej.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915400" y="1691640"/>
            <a:ext cx="3840480" cy="4389120"/>
          </a:xfrm>
          <a:prstGeom prst="roundRect">
            <a:avLst/>
          </a:prstGeom>
          <a:solidFill>
            <a:srgbClr val="F8F9FA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0"/>
              </a:spcAft>
              <a:defRPr sz="1600" b="1">
                <a:solidFill>
                  <a:srgbClr val="0D47A1"/>
                </a:solidFill>
                <a:latin typeface="Calibri"/>
              </a:defRPr>
            </a:pPr>
            <a:r>
              <a:t>Krok 3: Zero-Shot Transfer</a:t>
            </a:r>
          </a:p>
          <a:p>
            <a:pPr algn="l">
              <a:spcAft>
                <a:spcPts val="600"/>
              </a:spcAft>
              <a:defRPr sz="1300" b="1">
                <a:solidFill>
                  <a:srgbClr val="191919"/>
                </a:solidFill>
                <a:latin typeface="Calibri"/>
              </a:defRPr>
            </a:pPr>
            <a:r>
              <a:t>Wdrożenie na platformie brzegowej: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505050"/>
                </a:solidFill>
                <a:latin typeface="Calibri"/>
              </a:defRPr>
            </a:pPr>
            <a:r>
              <a:t>• Eksport wytrenowanej polityki do formatu NVIDIA TensorRT na układzie Jetson Orin NX.</a:t>
            </a:r>
          </a:p>
          <a:p>
            <a:pPr algn="l">
              <a:spcAft>
                <a:spcPts val="600"/>
              </a:spcAft>
              <a:defRPr sz="1300" b="1">
                <a:solidFill>
                  <a:srgbClr val="191919"/>
                </a:solidFill>
                <a:latin typeface="Calibri"/>
              </a:defRPr>
            </a:pPr>
            <a:r>
              <a:t>Bezpośredni transfer (Zero-Shot):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505050"/>
                </a:solidFill>
                <a:latin typeface="Calibri"/>
              </a:defRPr>
            </a:pPr>
            <a:r>
              <a:t>• Polityka sterowania działa na fizycznym pojeździe bez konieczności niebezpiecznego dotrenowywania na hali.</a:t>
            </a:r>
          </a:p>
          <a:p>
            <a:pPr algn="l">
              <a:spcAft>
                <a:spcPts val="600"/>
              </a:spcAft>
              <a:defRPr sz="1300" b="1">
                <a:solidFill>
                  <a:srgbClr val="191919"/>
                </a:solidFill>
                <a:latin typeface="Calibri"/>
              </a:defRPr>
            </a:pPr>
            <a:r>
              <a:t>Kluczowy rezultat: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505050"/>
                </a:solidFill>
                <a:latin typeface="Calibri"/>
              </a:defRPr>
            </a:pPr>
            <a:r>
              <a:t>• Oszczędność czasu i kosztów: redukcja fizycznych testów poligonowych o ponad 75%.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57400" y="320040"/>
            <a:ext cx="10789920" cy="1188720"/>
          </a:xfrm>
        </p:spPr>
        <p:txBody>
          <a:bodyPr wrap="square"/>
          <a:lstStyle/>
          <a:p>
            <a:pPr algn="l">
              <a:spcAft>
                <a:spcPts val="200"/>
              </a:spcAft>
              <a:defRPr sz="1100" b="1">
                <a:solidFill>
                  <a:srgbClr val="990000"/>
                </a:solidFill>
                <a:latin typeface="Calibri"/>
              </a:defRPr>
            </a:pPr>
            <a:r>
              <a:t>DEMONSTRACJA I INTEGRACJA</a:t>
            </a:r>
          </a:p>
          <a:p>
            <a:pPr algn="l">
              <a:spcAft>
                <a:spcPts val="0"/>
              </a:spcAft>
              <a:defRPr sz="2300" b="1">
                <a:solidFill>
                  <a:srgbClr val="191919"/>
                </a:solidFill>
                <a:latin typeface="Calibri"/>
              </a:defRPr>
            </a:pPr>
            <a:r>
              <a:t>Cyfrowy Bliźniak (Digital Twin) i architektura Edge AI</a:t>
            </a:r>
          </a:p>
        </p:txBody>
      </p:sp>
      <p:pic>
        <p:nvPicPr>
          <p:cNvPr id="3" name="Picture 2" descr="digital_twin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691640"/>
            <a:ext cx="6949440" cy="41148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94360" y="5897880"/>
            <a:ext cx="694944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0"/>
              </a:spcAft>
              <a:defRPr sz="1000" b="0">
                <a:solidFill>
                  <a:srgbClr val="505050"/>
                </a:solidFill>
                <a:latin typeface="Calibri"/>
              </a:defRPr>
            </a:pPr>
            <a:r>
              <a:t>Rys. 1. Stanowisko Cyfrowego Bliźniaka AGV (Three.js/WebGL): Porównanie AGV-01 (Neuro-Curiosity) oraz AGV-02 (Baseline) na arenie 100x100m z telemetrią na żywo.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18120" y="1691640"/>
            <a:ext cx="4754880" cy="4572000"/>
          </a:xfrm>
          <a:prstGeom prst="roundRect">
            <a:avLst/>
          </a:prstGeom>
          <a:solidFill>
            <a:srgbClr val="F8F9FA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0"/>
              </a:spcAft>
              <a:defRPr sz="1600" b="1">
                <a:solidFill>
                  <a:srgbClr val="990000"/>
                </a:solidFill>
                <a:latin typeface="Calibri"/>
              </a:defRPr>
            </a:pPr>
            <a:r>
              <a:t>Stos technologiczny platformy</a:t>
            </a:r>
          </a:p>
          <a:p>
            <a:pPr algn="l">
              <a:spcAft>
                <a:spcPts val="400"/>
              </a:spcAft>
              <a:defRPr sz="1200" b="1">
                <a:solidFill>
                  <a:srgbClr val="191919"/>
                </a:solidFill>
                <a:latin typeface="Calibri"/>
              </a:defRPr>
            </a:pPr>
            <a:r>
              <a:t>Edge AI – NVIDIA Jetson Orin NX: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505050"/>
                </a:solidFill>
                <a:latin typeface="Calibri"/>
              </a:defRPr>
            </a:pPr>
            <a:r>
              <a:t>• Kompaktowy moduł pokładowy (do 100 TOPS AI). Autonomiczne podejmowanie decyzji w czasie &lt;15 ms bez opóźnień chmurowych.</a:t>
            </a:r>
          </a:p>
          <a:p>
            <a:pPr algn="l">
              <a:spcAft>
                <a:spcPts val="400"/>
              </a:spcAft>
              <a:defRPr sz="1200" b="1">
                <a:solidFill>
                  <a:srgbClr val="191919"/>
                </a:solidFill>
                <a:latin typeface="Calibri"/>
              </a:defRPr>
            </a:pPr>
            <a:r>
              <a:t>Szyna danych IIoT – Apache Kafka: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505050"/>
                </a:solidFill>
                <a:latin typeface="Calibri"/>
              </a:defRPr>
            </a:pPr>
            <a:r>
              <a:t>• Wysokoprzepustowy broker zdarzeń przesyłający telemetrię pojazdów, stany LiDAR oraz metryki ciekawości.</a:t>
            </a:r>
          </a:p>
          <a:p>
            <a:pPr algn="l">
              <a:spcAft>
                <a:spcPts val="400"/>
              </a:spcAft>
              <a:defRPr sz="1200" b="1">
                <a:solidFill>
                  <a:srgbClr val="191919"/>
                </a:solidFill>
                <a:latin typeface="Calibri"/>
              </a:defRPr>
            </a:pPr>
            <a:r>
              <a:t>Analiza i przechowywanie: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505050"/>
                </a:solidFill>
                <a:latin typeface="Calibri"/>
              </a:defRPr>
            </a:pPr>
            <a:r>
              <a:t>• • TimescaleDB – hybrydowa baza szeregów czasowych</a:t>
            </a:r>
            <a:br/>
            <a:r>
              <a:t>• Apache Spark Streaming – analityka anomalii i szarpnięć</a:t>
            </a:r>
          </a:p>
          <a:p>
            <a:pPr algn="l">
              <a:spcAft>
                <a:spcPts val="400"/>
              </a:spcAft>
              <a:defRPr sz="1200" b="1">
                <a:solidFill>
                  <a:srgbClr val="191919"/>
                </a:solidFill>
                <a:latin typeface="Calibri"/>
              </a:defRPr>
            </a:pPr>
            <a:r>
              <a:t>Wizualizacja i Nadzór Floty (Three.js &amp; Grafana):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505050"/>
                </a:solidFill>
                <a:latin typeface="Calibri"/>
              </a:defRPr>
            </a:pPr>
            <a:r>
              <a:t>• Wirtualna reprezentacja fabryki 3D, geofencing, dynamiczne wykrywanie kolizji i monitoring akumulatorów na żywo.</a:t>
            </a:r>
          </a:p>
          <a:p>
            <a:pPr algn="l">
              <a:spcAft>
                <a:spcPts val="400"/>
              </a:spcAft>
              <a:defRPr sz="1200" b="1">
                <a:solidFill>
                  <a:srgbClr val="191919"/>
                </a:solidFill>
                <a:latin typeface="Calibri"/>
              </a:defRPr>
            </a:pPr>
            <a:r>
              <a:t>Wkład inżynierski Patryka Pięty: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505050"/>
                </a:solidFill>
                <a:latin typeface="Calibri"/>
              </a:defRPr>
            </a:pPr>
            <a:r>
              <a:t>• Kompletna platforma Digital Twin integrująca modele fizyczne z algorytmami AI SKN Sensor.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57400" y="320040"/>
            <a:ext cx="10789920" cy="1188720"/>
          </a:xfrm>
        </p:spPr>
        <p:txBody>
          <a:bodyPr wrap="square"/>
          <a:lstStyle/>
          <a:p>
            <a:pPr algn="l">
              <a:spcAft>
                <a:spcPts val="200"/>
              </a:spcAft>
              <a:defRPr sz="1100" b="1">
                <a:solidFill>
                  <a:srgbClr val="990000"/>
                </a:solidFill>
                <a:latin typeface="Calibri"/>
              </a:defRPr>
            </a:pPr>
            <a:r>
              <a:t>METODYKA EWALUACJI</a:t>
            </a:r>
          </a:p>
          <a:p>
            <a:pPr algn="l">
              <a:spcAft>
                <a:spcPts val="0"/>
              </a:spcAft>
              <a:defRPr sz="2300" b="1">
                <a:solidFill>
                  <a:srgbClr val="191919"/>
                </a:solidFill>
                <a:latin typeface="Calibri"/>
              </a:defRPr>
            </a:pPr>
            <a:r>
              <a:t>Badania porównawcze i rygorystyczna weryfikacja statystyczna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691640"/>
            <a:ext cx="5852160" cy="4389120"/>
          </a:xfrm>
          <a:prstGeom prst="roundRect">
            <a:avLst/>
          </a:prstGeom>
          <a:solidFill>
            <a:srgbClr val="F8F9FA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0"/>
              </a:spcAft>
              <a:defRPr sz="1700" b="1">
                <a:solidFill>
                  <a:srgbClr val="006633"/>
                </a:solidFill>
                <a:latin typeface="Calibri"/>
              </a:defRPr>
            </a:pPr>
            <a:r>
              <a:t>Metryki efektywności i bezpieczeństwa</a:t>
            </a:r>
          </a:p>
          <a:p>
            <a:pPr algn="l">
              <a:spcAft>
                <a:spcPts val="500"/>
              </a:spcAft>
              <a:defRPr sz="1300" b="1">
                <a:solidFill>
                  <a:srgbClr val="191919"/>
                </a:solidFill>
                <a:latin typeface="Calibri"/>
              </a:defRPr>
            </a:pPr>
            <a:r>
              <a:t>Średnia droga bezkolizyjna (Mean Free Path):</a:t>
            </a:r>
          </a:p>
          <a:p>
            <a:pPr algn="l">
              <a:spcAft>
                <a:spcPts val="500"/>
              </a:spcAft>
              <a:defRPr sz="1300" b="0">
                <a:solidFill>
                  <a:srgbClr val="505050"/>
                </a:solidFill>
                <a:latin typeface="Calibri"/>
              </a:defRPr>
            </a:pPr>
            <a:r>
              <a:t>• Mierzona odległość przebyta przez AGV w złożonym magazynie bez naruszenia strefy bezpieczeństwa (geofence/przeszkody).</a:t>
            </a:r>
          </a:p>
          <a:p>
            <a:pPr algn="l">
              <a:spcAft>
                <a:spcPts val="500"/>
              </a:spcAft>
              <a:defRPr sz="1300" b="1">
                <a:solidFill>
                  <a:srgbClr val="191919"/>
                </a:solidFill>
                <a:latin typeface="Calibri"/>
              </a:defRPr>
            </a:pPr>
            <a:r>
              <a:t>Wskaźnik szarpnięcia (Jerk Metric):</a:t>
            </a:r>
          </a:p>
          <a:p>
            <a:pPr algn="l">
              <a:spcAft>
                <a:spcPts val="500"/>
              </a:spcAft>
              <a:defRPr sz="1300" b="0">
                <a:solidFill>
                  <a:srgbClr val="505050"/>
                </a:solidFill>
                <a:latin typeface="Calibri"/>
              </a:defRPr>
            </a:pPr>
            <a:r>
              <a:t>• Trzecia pochodna położenia J = d³x/dt³. Minimalizacja szarpnięć gwarantuje stabilność ładunku i wydłuża żywotność przekładni.</a:t>
            </a:r>
          </a:p>
          <a:p>
            <a:pPr algn="l">
              <a:spcAft>
                <a:spcPts val="500"/>
              </a:spcAft>
              <a:defRPr sz="1300" b="1">
                <a:solidFill>
                  <a:srgbClr val="191919"/>
                </a:solidFill>
                <a:latin typeface="Calibri"/>
              </a:defRPr>
            </a:pPr>
            <a:r>
              <a:t>Tempo konwergencji (Convergence Rate):</a:t>
            </a:r>
          </a:p>
          <a:p>
            <a:pPr algn="l">
              <a:spcAft>
                <a:spcPts val="500"/>
              </a:spcAft>
              <a:defRPr sz="1300" b="0">
                <a:solidFill>
                  <a:srgbClr val="505050"/>
                </a:solidFill>
                <a:latin typeface="Calibri"/>
              </a:defRPr>
            </a:pPr>
            <a:r>
              <a:t>• Liczba epizodów treningowych niezbędna do osiągnięcia 98% skuteczności nawigacyjnej w nowym otoczeniu.</a:t>
            </a:r>
          </a:p>
          <a:p>
            <a:pPr algn="l">
              <a:spcAft>
                <a:spcPts val="500"/>
              </a:spcAft>
              <a:defRPr sz="1300" b="1">
                <a:solidFill>
                  <a:srgbClr val="191919"/>
                </a:solidFill>
                <a:latin typeface="Calibri"/>
              </a:defRPr>
            </a:pPr>
            <a:r>
              <a:t>Współczynnik pokrycia przestrzeni (Coverage Ratio):</a:t>
            </a:r>
          </a:p>
          <a:p>
            <a:pPr algn="l">
              <a:spcAft>
                <a:spcPts val="500"/>
              </a:spcAft>
              <a:defRPr sz="1300" b="0">
                <a:solidFill>
                  <a:srgbClr val="505050"/>
                </a:solidFill>
                <a:latin typeface="Calibri"/>
              </a:defRPr>
            </a:pPr>
            <a:r>
              <a:t>• Procent efektywnie zmapowanego magazynu w pierwszych minutach pracy bez udziału człowieka.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720840" y="1691640"/>
            <a:ext cx="5852160" cy="4389120"/>
          </a:xfrm>
          <a:prstGeom prst="roundRect">
            <a:avLst/>
          </a:prstGeom>
          <a:solidFill>
            <a:srgbClr val="F0F8F3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0"/>
              </a:spcAft>
              <a:defRPr sz="1700" b="1">
                <a:solidFill>
                  <a:srgbClr val="006633"/>
                </a:solidFill>
                <a:latin typeface="Calibri"/>
              </a:defRPr>
            </a:pPr>
            <a:r>
              <a:t>Aparatura statystyczna (Testy Friedmana i Nemenyiego)</a:t>
            </a:r>
          </a:p>
          <a:p>
            <a:pPr algn="l">
              <a:spcAft>
                <a:spcPts val="500"/>
              </a:spcAft>
              <a:defRPr sz="1300" b="1">
                <a:solidFill>
                  <a:srgbClr val="191919"/>
                </a:solidFill>
                <a:latin typeface="Calibri"/>
              </a:defRPr>
            </a:pPr>
            <a:r>
              <a:t>Eliminacja przypadkowości wyników:</a:t>
            </a:r>
          </a:p>
          <a:p>
            <a:pPr algn="l">
              <a:spcAft>
                <a:spcPts val="500"/>
              </a:spcAft>
              <a:defRPr sz="1300" b="0">
                <a:solidFill>
                  <a:srgbClr val="505050"/>
                </a:solidFill>
                <a:latin typeface="Calibri"/>
              </a:defRPr>
            </a:pPr>
            <a:r>
              <a:t>• Proste porównanie średnich jest niewystarczające w środowiskach stochastycznych.</a:t>
            </a:r>
          </a:p>
          <a:p>
            <a:pPr algn="l">
              <a:spcAft>
                <a:spcPts val="500"/>
              </a:spcAft>
              <a:defRPr sz="1300" b="1">
                <a:solidFill>
                  <a:srgbClr val="191919"/>
                </a:solidFill>
                <a:latin typeface="Calibri"/>
              </a:defRPr>
            </a:pPr>
            <a:r>
              <a:t>Nieparametryczny Test Friedmana:</a:t>
            </a:r>
          </a:p>
          <a:p>
            <a:pPr algn="l">
              <a:spcAft>
                <a:spcPts val="500"/>
              </a:spcAft>
              <a:defRPr sz="1300" b="0">
                <a:solidFill>
                  <a:srgbClr val="505050"/>
                </a:solidFill>
                <a:latin typeface="Calibri"/>
              </a:defRPr>
            </a:pPr>
            <a:r>
              <a:t>• Ocenia rangi efektywności porównywanych algorytmów (Neuro-Curiosity vs Epsilon-Greedy vs PPO Baseline) na wielu trasach testowych.</a:t>
            </a:r>
          </a:p>
          <a:p>
            <a:pPr algn="l">
              <a:spcAft>
                <a:spcPts val="500"/>
              </a:spcAft>
              <a:defRPr sz="1300" b="1">
                <a:solidFill>
                  <a:srgbClr val="191919"/>
                </a:solidFill>
                <a:latin typeface="Calibri"/>
              </a:defRPr>
            </a:pPr>
            <a:r>
              <a:t>Test Post-Hoc Nemenyiego:</a:t>
            </a:r>
          </a:p>
          <a:p>
            <a:pPr algn="l">
              <a:spcAft>
                <a:spcPts val="500"/>
              </a:spcAft>
              <a:defRPr sz="1300" b="0">
                <a:solidFill>
                  <a:srgbClr val="505050"/>
                </a:solidFill>
                <a:latin typeface="Calibri"/>
              </a:defRPr>
            </a:pPr>
            <a:r>
              <a:t>• Precyzyjne wyznaczenie krytycznej różnicy (Critical Difference CD) i wskazanie, które algorytmy różnią się w sposób statystycznie istotny (p &lt; 0.05).</a:t>
            </a:r>
          </a:p>
          <a:p>
            <a:pPr algn="l">
              <a:spcAft>
                <a:spcPts val="500"/>
              </a:spcAft>
              <a:defRPr sz="1300" b="1">
                <a:solidFill>
                  <a:srgbClr val="191919"/>
                </a:solidFill>
                <a:latin typeface="Calibri"/>
              </a:defRPr>
            </a:pPr>
            <a:r>
              <a:t>Naukowa rzetelność publikacji:</a:t>
            </a:r>
          </a:p>
          <a:p>
            <a:pPr algn="l">
              <a:spcAft>
                <a:spcPts val="500"/>
              </a:spcAft>
              <a:defRPr sz="1300" b="0">
                <a:solidFill>
                  <a:srgbClr val="505050"/>
                </a:solidFill>
                <a:latin typeface="Calibri"/>
              </a:defRPr>
            </a:pPr>
            <a:r>
              <a:t>• Zastosowanie rygoru statystycznego spełnia najwyższe standardy recenzenckie prestiżowych czasopism z listy filadelfijskiej (JCR Q1).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57400" y="320040"/>
            <a:ext cx="10789920" cy="1188720"/>
          </a:xfrm>
        </p:spPr>
        <p:txBody>
          <a:bodyPr wrap="square"/>
          <a:lstStyle/>
          <a:p>
            <a:pPr algn="l">
              <a:spcAft>
                <a:spcPts val="200"/>
              </a:spcAft>
              <a:defRPr sz="1100" b="1">
                <a:solidFill>
                  <a:srgbClr val="990000"/>
                </a:solidFill>
                <a:latin typeface="Calibri"/>
              </a:defRPr>
            </a:pPr>
            <a:r>
              <a:t>ZARZĄDZANIE PROJEKTEM</a:t>
            </a:r>
          </a:p>
          <a:p>
            <a:pPr algn="l">
              <a:spcAft>
                <a:spcPts val="0"/>
              </a:spcAft>
              <a:defRPr sz="2300" b="1">
                <a:solidFill>
                  <a:srgbClr val="191919"/>
                </a:solidFill>
                <a:latin typeface="Calibri"/>
              </a:defRPr>
            </a:pPr>
            <a:r>
              <a:t>Harmonogram realizacji i kamienie milowe projektu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691640"/>
            <a:ext cx="5852160" cy="2148840"/>
          </a:xfrm>
          <a:prstGeom prst="roundRect">
            <a:avLst/>
          </a:prstGeom>
          <a:solidFill>
            <a:srgbClr val="F8F9FA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600"/>
              </a:spcAft>
              <a:defRPr sz="1500" b="1">
                <a:solidFill>
                  <a:srgbClr val="990000"/>
                </a:solidFill>
                <a:latin typeface="Calibri"/>
              </a:defRPr>
            </a:pPr>
            <a:r>
              <a:t>Kwartał I: Modelowanie i Symulacja Isaac Sim</a:t>
            </a:r>
          </a:p>
          <a:p>
            <a:pPr>
              <a:spcAft>
                <a:spcPts val="300"/>
              </a:spcAft>
              <a:defRPr sz="1200">
                <a:solidFill>
                  <a:srgbClr val="191919"/>
                </a:solidFill>
                <a:latin typeface="Calibri"/>
              </a:defRPr>
            </a:pPr>
            <a:r>
              <a:t>• Kamień milowy 1: Implementacja modułu ICM i forward dynamics w PyTorch.</a:t>
            </a:r>
          </a:p>
          <a:p>
            <a:pPr>
              <a:spcAft>
                <a:spcPts val="300"/>
              </a:spcAft>
              <a:defRPr sz="1200">
                <a:solidFill>
                  <a:srgbClr val="191919"/>
                </a:solidFill>
                <a:latin typeface="Calibri"/>
              </a:defRPr>
            </a:pPr>
            <a:r>
              <a:t>• Zadanie: Stworzenie wirtualnej geometrii magazynu 3D oraz kinematyki AGV w NVIDIA Isaac Sim.</a:t>
            </a:r>
          </a:p>
          <a:p>
            <a:pPr>
              <a:spcAft>
                <a:spcPts val="300"/>
              </a:spcAft>
              <a:defRPr sz="1200">
                <a:solidFill>
                  <a:srgbClr val="191919"/>
                </a:solidFill>
                <a:latin typeface="Calibri"/>
              </a:defRPr>
            </a:pPr>
            <a:r>
              <a:t>• Rezultat: Wstępne wagi modelu wytrenowane w środowisku czysto symulacyjnym.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766560" y="1691640"/>
            <a:ext cx="5852160" cy="2148840"/>
          </a:xfrm>
          <a:prstGeom prst="roundRect">
            <a:avLst/>
          </a:prstGeom>
          <a:solidFill>
            <a:srgbClr val="F8F9FA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600"/>
              </a:spcAft>
              <a:defRPr sz="1500" b="1">
                <a:solidFill>
                  <a:srgbClr val="990000"/>
                </a:solidFill>
                <a:latin typeface="Calibri"/>
              </a:defRPr>
            </a:pPr>
            <a:r>
              <a:t>Kwartał II: Integracja Edge AI &amp; Cyfrowy Bliźniak</a:t>
            </a:r>
          </a:p>
          <a:p>
            <a:pPr>
              <a:spcAft>
                <a:spcPts val="300"/>
              </a:spcAft>
              <a:defRPr sz="1200">
                <a:solidFill>
                  <a:srgbClr val="191919"/>
                </a:solidFill>
                <a:latin typeface="Calibri"/>
              </a:defRPr>
            </a:pPr>
            <a:r>
              <a:t>• Kamień milowy 2: Uruchomienie wnioskowania TensorRT na NVIDIA Jetson Orin NX.</a:t>
            </a:r>
          </a:p>
          <a:p>
            <a:pPr>
              <a:spcAft>
                <a:spcPts val="300"/>
              </a:spcAft>
              <a:defRPr sz="1200">
                <a:solidFill>
                  <a:srgbClr val="191919"/>
                </a:solidFill>
                <a:latin typeface="Calibri"/>
              </a:defRPr>
            </a:pPr>
            <a:r>
              <a:t>• Zadanie: Integracja pipeline'u telemetrii: broker Kafka, TimescaleDB oraz wizualizacja Three.js.</a:t>
            </a:r>
          </a:p>
          <a:p>
            <a:pPr>
              <a:spcAft>
                <a:spcPts val="300"/>
              </a:spcAft>
              <a:defRPr sz="1200">
                <a:solidFill>
                  <a:srgbClr val="191919"/>
                </a:solidFill>
                <a:latin typeface="Calibri"/>
              </a:defRPr>
            </a:pPr>
            <a:r>
              <a:t>• Rezultat: Działający Digital Twin w czasie rzeczywistym z opóźnieniem &lt;15 ms.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4069080"/>
            <a:ext cx="5852160" cy="2148840"/>
          </a:xfrm>
          <a:prstGeom prst="roundRect">
            <a:avLst/>
          </a:prstGeom>
          <a:solidFill>
            <a:srgbClr val="F8F9FA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600"/>
              </a:spcAft>
              <a:defRPr sz="1500" b="1">
                <a:solidFill>
                  <a:srgbClr val="990000"/>
                </a:solidFill>
                <a:latin typeface="Calibri"/>
              </a:defRPr>
            </a:pPr>
            <a:r>
              <a:t>Kwartał III: Domain Randomization i Sim-to-Real</a:t>
            </a:r>
          </a:p>
          <a:p>
            <a:pPr>
              <a:spcAft>
                <a:spcPts val="300"/>
              </a:spcAft>
              <a:defRPr sz="1200">
                <a:solidFill>
                  <a:srgbClr val="191919"/>
                </a:solidFill>
                <a:latin typeface="Calibri"/>
              </a:defRPr>
            </a:pPr>
            <a:r>
              <a:t>• Kamień milowy 3: Testy zero-shot transfer na fizycznej platformie jezdnej.</a:t>
            </a:r>
          </a:p>
          <a:p>
            <a:pPr>
              <a:spcAft>
                <a:spcPts val="300"/>
              </a:spcAft>
              <a:defRPr sz="1200">
                <a:solidFill>
                  <a:srgbClr val="191919"/>
                </a:solidFill>
                <a:latin typeface="Calibri"/>
              </a:defRPr>
            </a:pPr>
            <a:r>
              <a:t>• Zadanie: Wprowadzenie losowości tarcia, oświetlenia i opóźnień w symulatorze.</a:t>
            </a:r>
          </a:p>
          <a:p>
            <a:pPr>
              <a:spcAft>
                <a:spcPts val="300"/>
              </a:spcAft>
              <a:defRPr sz="1200">
                <a:solidFill>
                  <a:srgbClr val="191919"/>
                </a:solidFill>
                <a:latin typeface="Calibri"/>
              </a:defRPr>
            </a:pPr>
            <a:r>
              <a:t>• Rezultat: Potwierdzenie odporności algorytmu na warunki rzeczywiste bez kolizji.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4069080"/>
            <a:ext cx="5852160" cy="2148840"/>
          </a:xfrm>
          <a:prstGeom prst="roundRect">
            <a:avLst/>
          </a:prstGeom>
          <a:solidFill>
            <a:srgbClr val="F8F9FA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600"/>
              </a:spcAft>
              <a:defRPr sz="1500" b="1">
                <a:solidFill>
                  <a:srgbClr val="990000"/>
                </a:solidFill>
                <a:latin typeface="Calibri"/>
              </a:defRPr>
            </a:pPr>
            <a:r>
              <a:t>Kwartał IV: Ewaluacja Statystyczna i Upowszechnienie</a:t>
            </a:r>
          </a:p>
          <a:p>
            <a:pPr>
              <a:spcAft>
                <a:spcPts val="300"/>
              </a:spcAft>
              <a:defRPr sz="1200">
                <a:solidFill>
                  <a:srgbClr val="191919"/>
                </a:solidFill>
                <a:latin typeface="Calibri"/>
              </a:defRPr>
            </a:pPr>
            <a:r>
              <a:t>• Kamień milowy 4: Raport badawczy, artykuł Q1 i wystąpienie konferencyjne.</a:t>
            </a:r>
          </a:p>
          <a:p>
            <a:pPr>
              <a:spcAft>
                <a:spcPts val="300"/>
              </a:spcAft>
              <a:defRPr sz="1200">
                <a:solidFill>
                  <a:srgbClr val="191919"/>
                </a:solidFill>
                <a:latin typeface="Calibri"/>
              </a:defRPr>
            </a:pPr>
            <a:r>
              <a:t>• Zadanie: Wykonanie testów Friedmana/Nemenyiego na 50 scenariuszach fabrycznych.</a:t>
            </a:r>
          </a:p>
          <a:p>
            <a:pPr>
              <a:spcAft>
                <a:spcPts val="300"/>
              </a:spcAft>
              <a:defRPr sz="1200">
                <a:solidFill>
                  <a:srgbClr val="191919"/>
                </a:solidFill>
                <a:latin typeface="Calibri"/>
              </a:defRPr>
            </a:pPr>
            <a:r>
              <a:t>• Rezultat: Prezentacja na ICCC 2026 i KKR oraz publikacja repozytorium GitHub Open Source.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57400" y="320040"/>
            <a:ext cx="10789920" cy="1188720"/>
          </a:xfrm>
        </p:spPr>
        <p:txBody>
          <a:bodyPr wrap="square"/>
          <a:lstStyle/>
          <a:p>
            <a:pPr algn="l">
              <a:spcAft>
                <a:spcPts val="200"/>
              </a:spcAft>
              <a:defRPr sz="1100" b="1">
                <a:solidFill>
                  <a:srgbClr val="990000"/>
                </a:solidFill>
                <a:latin typeface="Calibri"/>
              </a:defRPr>
            </a:pPr>
            <a:r>
              <a:t>BUDŻET I TRANSFER WIEDZY</a:t>
            </a:r>
          </a:p>
          <a:p>
            <a:pPr algn="l">
              <a:spcAft>
                <a:spcPts val="0"/>
              </a:spcAft>
              <a:defRPr sz="2300" b="1">
                <a:solidFill>
                  <a:srgbClr val="191919"/>
                </a:solidFill>
                <a:latin typeface="Calibri"/>
              </a:defRPr>
            </a:pPr>
            <a:r>
              <a:t>Budżet projektu oraz plan upowszechniania wyników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691640"/>
            <a:ext cx="5852160" cy="4389120"/>
          </a:xfrm>
          <a:prstGeom prst="roundRect">
            <a:avLst/>
          </a:prstGeom>
          <a:solidFill>
            <a:srgbClr val="F8F9FA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0"/>
              </a:spcAft>
              <a:defRPr sz="1700" b="1">
                <a:solidFill>
                  <a:srgbClr val="990000"/>
                </a:solidFill>
                <a:latin typeface="Calibri"/>
              </a:defRPr>
            </a:pPr>
            <a:r>
              <a:t>Kosztorys grantu IDUB (Łącznie: 44 900 PLN)</a:t>
            </a:r>
          </a:p>
          <a:p>
            <a:pPr algn="l">
              <a:spcAft>
                <a:spcPts val="100"/>
              </a:spcAft>
              <a:defRPr sz="1300" b="1">
                <a:solidFill>
                  <a:srgbClr val="191919"/>
                </a:solidFill>
                <a:latin typeface="Calibri"/>
              </a:defRPr>
            </a:pPr>
            <a:r>
              <a:t>• 1. Jednostka procesująca Edge AI:  8 000,00 PLN</a:t>
            </a:r>
          </a:p>
          <a:p>
            <a:pPr algn="l">
              <a:spcAft>
                <a:spcPts val="500"/>
              </a:spcAft>
              <a:defRPr sz="1100" b="0">
                <a:solidFill>
                  <a:srgbClr val="505050"/>
                </a:solidFill>
                <a:latin typeface="Calibri"/>
              </a:defRPr>
            </a:pPr>
            <a:r>
              <a:t>   Moduł NVIDIA Jetson Orin NX + carrier board + zasilanie przemysłowe</a:t>
            </a:r>
          </a:p>
          <a:p>
            <a:pPr algn="l">
              <a:spcAft>
                <a:spcPts val="100"/>
              </a:spcAft>
              <a:defRPr sz="1300" b="1">
                <a:solidFill>
                  <a:srgbClr val="191919"/>
                </a:solidFill>
                <a:latin typeface="Calibri"/>
              </a:defRPr>
            </a:pPr>
            <a:r>
              <a:t>• 2. Konferencje naukowe i delegacje:  35 000,00 PLN</a:t>
            </a:r>
          </a:p>
          <a:p>
            <a:pPr algn="l">
              <a:spcAft>
                <a:spcPts val="500"/>
              </a:spcAft>
              <a:defRPr sz="1100" b="0">
                <a:solidFill>
                  <a:srgbClr val="505050"/>
                </a:solidFill>
                <a:latin typeface="Calibri"/>
              </a:defRPr>
            </a:pPr>
            <a:r>
              <a:t>   Udział zespołu w ICCC 2026 (IEEE) oraz 18. KKR (Krajowa Konf. Robotyki)</a:t>
            </a:r>
          </a:p>
          <a:p>
            <a:pPr algn="l">
              <a:spcAft>
                <a:spcPts val="100"/>
              </a:spcAft>
              <a:defRPr sz="1300" b="1">
                <a:solidFill>
                  <a:srgbClr val="191919"/>
                </a:solidFill>
                <a:latin typeface="Calibri"/>
              </a:defRPr>
            </a:pPr>
            <a:r>
              <a:t>• 3. Materiały konstrukcyjne:  500,00 PLN</a:t>
            </a:r>
          </a:p>
          <a:p>
            <a:pPr algn="l">
              <a:spcAft>
                <a:spcPts val="500"/>
              </a:spcAft>
              <a:defRPr sz="1100" b="0">
                <a:solidFill>
                  <a:srgbClr val="505050"/>
                </a:solidFill>
                <a:latin typeface="Calibri"/>
              </a:defRPr>
            </a:pPr>
            <a:r>
              <a:t>   Mocowania sensorów, elementy montażowe podwozia AGV</a:t>
            </a:r>
          </a:p>
          <a:p>
            <a:pPr algn="l">
              <a:spcAft>
                <a:spcPts val="100"/>
              </a:spcAft>
              <a:defRPr sz="1300" b="1">
                <a:solidFill>
                  <a:srgbClr val="191919"/>
                </a:solidFill>
                <a:latin typeface="Calibri"/>
              </a:defRPr>
            </a:pPr>
            <a:r>
              <a:t>• 4. Oprzyrządowanie elektroniczne:  500,00 PLN</a:t>
            </a:r>
          </a:p>
          <a:p>
            <a:pPr algn="l">
              <a:spcAft>
                <a:spcPts val="500"/>
              </a:spcAft>
              <a:defRPr sz="1100" b="0">
                <a:solidFill>
                  <a:srgbClr val="505050"/>
                </a:solidFill>
                <a:latin typeface="Calibri"/>
              </a:defRPr>
            </a:pPr>
            <a:r>
              <a:t>   Okablowanie CAN/Ethernet, zabezpieczenia przeciwprzepięciowe</a:t>
            </a:r>
          </a:p>
          <a:p>
            <a:pPr algn="l">
              <a:spcAft>
                <a:spcPts val="100"/>
              </a:spcAft>
              <a:defRPr sz="1300" b="1">
                <a:solidFill>
                  <a:srgbClr val="191919"/>
                </a:solidFill>
                <a:latin typeface="Calibri"/>
              </a:defRPr>
            </a:pPr>
            <a:r>
              <a:t>• 5. Usługi (publikacje i Open Access):  900,00 PLN</a:t>
            </a:r>
          </a:p>
          <a:p>
            <a:pPr algn="l">
              <a:spcAft>
                <a:spcPts val="500"/>
              </a:spcAft>
              <a:defRPr sz="1100" b="0">
                <a:solidFill>
                  <a:srgbClr val="505050"/>
                </a:solidFill>
                <a:latin typeface="Calibri"/>
              </a:defRPr>
            </a:pPr>
            <a:r>
              <a:t>   Proofreading językowy, przygotowanie posterów naukowych</a:t>
            </a:r>
          </a:p>
          <a:p>
            <a:pPr algn="l">
              <a:spcAft>
                <a:spcPts val="100"/>
              </a:spcAft>
              <a:defRPr sz="1300" b="1">
                <a:solidFill>
                  <a:srgbClr val="191919"/>
                </a:solidFill>
                <a:latin typeface="Calibri"/>
              </a:defRPr>
            </a:pPr>
            <a:r>
              <a:t>• Stypendia motywacyjne dla studentów:  8 980,00 PLN</a:t>
            </a:r>
          </a:p>
          <a:p>
            <a:pPr algn="l">
              <a:spcAft>
                <a:spcPts val="500"/>
              </a:spcAft>
              <a:defRPr sz="1100" b="0">
                <a:solidFill>
                  <a:srgbClr val="505050"/>
                </a:solidFill>
                <a:latin typeface="Calibri"/>
              </a:defRPr>
            </a:pPr>
            <a:r>
              <a:t>   Finansowane w ramach subwencji dydaktycznej jednostki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720840" y="1691640"/>
            <a:ext cx="5852160" cy="4389120"/>
          </a:xfrm>
          <a:prstGeom prst="roundRect">
            <a:avLst/>
          </a:prstGeom>
          <a:solidFill>
            <a:srgbClr val="F0F8F3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000"/>
              </a:spcAft>
              <a:defRPr sz="1700" b="1">
                <a:solidFill>
                  <a:srgbClr val="006633"/>
                </a:solidFill>
                <a:latin typeface="Calibri"/>
              </a:defRPr>
            </a:pPr>
            <a:r>
              <a:t>Plan upowszechniania i wpływ na otoczenie</a:t>
            </a:r>
          </a:p>
          <a:p>
            <a:pPr algn="l">
              <a:spcAft>
                <a:spcPts val="500"/>
              </a:spcAft>
              <a:defRPr sz="1300" b="1">
                <a:solidFill>
                  <a:srgbClr val="191919"/>
                </a:solidFill>
                <a:latin typeface="Calibri"/>
              </a:defRPr>
            </a:pPr>
            <a:r>
              <a:t>Publikacje w czasopismach JCR Q1 / Core A:</a:t>
            </a:r>
          </a:p>
          <a:p>
            <a:pPr algn="l">
              <a:spcAft>
                <a:spcPts val="500"/>
              </a:spcAft>
              <a:defRPr sz="1300" b="0">
                <a:solidFill>
                  <a:srgbClr val="505050"/>
                </a:solidFill>
                <a:latin typeface="Calibri"/>
              </a:defRPr>
            </a:pPr>
            <a:r>
              <a:t>• Artykuł podsumowujący transfer Sim-to-Real w systemach intralogistycznych w modelu Open Access.</a:t>
            </a:r>
          </a:p>
          <a:p>
            <a:pPr algn="l">
              <a:spcAft>
                <a:spcPts val="500"/>
              </a:spcAft>
              <a:defRPr sz="1300" b="1">
                <a:solidFill>
                  <a:srgbClr val="191919"/>
                </a:solidFill>
                <a:latin typeface="Calibri"/>
              </a:defRPr>
            </a:pPr>
            <a:r>
              <a:t>Widoczność w bazach Scopus i IEEE Xplore:</a:t>
            </a:r>
          </a:p>
          <a:p>
            <a:pPr algn="l">
              <a:spcAft>
                <a:spcPts val="500"/>
              </a:spcAft>
              <a:defRPr sz="1300" b="0">
                <a:solidFill>
                  <a:srgbClr val="505050"/>
                </a:solidFill>
                <a:latin typeface="Calibri"/>
              </a:defRPr>
            </a:pPr>
            <a:r>
              <a:t>• Publikacja wyników w materiałach 27th International Carpathian Control Conference ICCC 2026.</a:t>
            </a:r>
          </a:p>
          <a:p>
            <a:pPr algn="l">
              <a:spcAft>
                <a:spcPts val="500"/>
              </a:spcAft>
              <a:defRPr sz="1300" b="1">
                <a:solidFill>
                  <a:srgbClr val="191919"/>
                </a:solidFill>
                <a:latin typeface="Calibri"/>
              </a:defRPr>
            </a:pPr>
            <a:r>
              <a:t>Repozytorium Open Source na GitHubie:</a:t>
            </a:r>
          </a:p>
          <a:p>
            <a:pPr algn="l">
              <a:spcAft>
                <a:spcPts val="500"/>
              </a:spcAft>
              <a:defRPr sz="1300" b="0">
                <a:solidFill>
                  <a:srgbClr val="505050"/>
                </a:solidFill>
                <a:latin typeface="Calibri"/>
              </a:defRPr>
            </a:pPr>
            <a:r>
              <a:t>• Udostępnienie kodów źródłowych modułu ICM, wag modeli oraz komponentów Cyfrowego Bliźniaka dla społeczności akademickiej.</a:t>
            </a:r>
          </a:p>
          <a:p>
            <a:pPr algn="l">
              <a:spcAft>
                <a:spcPts val="500"/>
              </a:spcAft>
              <a:defRPr sz="1300" b="1">
                <a:solidFill>
                  <a:srgbClr val="191919"/>
                </a:solidFill>
                <a:latin typeface="Calibri"/>
              </a:defRPr>
            </a:pPr>
            <a:r>
              <a:t>Promocja AGH i Dni Otwarte:</a:t>
            </a:r>
          </a:p>
          <a:p>
            <a:pPr algn="l">
              <a:spcAft>
                <a:spcPts val="500"/>
              </a:spcAft>
              <a:defRPr sz="1300" b="0">
                <a:solidFill>
                  <a:srgbClr val="505050"/>
                </a:solidFill>
                <a:latin typeface="Calibri"/>
              </a:defRPr>
            </a:pPr>
            <a:r>
              <a:t>• Demonstracja autonomicznych pojazdów AGV na żywo podczas Dni Otwartych AGH oraz Targów Organizacji Studenckich dla kandydatów na studia.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57400" y="320040"/>
            <a:ext cx="10789920" cy="1188720"/>
          </a:xfrm>
        </p:spPr>
        <p:txBody>
          <a:bodyPr wrap="square"/>
          <a:lstStyle/>
          <a:p>
            <a:pPr algn="l">
              <a:spcAft>
                <a:spcPts val="200"/>
              </a:spcAft>
              <a:defRPr sz="1100" b="1">
                <a:solidFill>
                  <a:srgbClr val="990000"/>
                </a:solidFill>
                <a:latin typeface="Calibri"/>
              </a:defRPr>
            </a:pPr>
            <a:r>
              <a:t>PODSUMOWANIE</a:t>
            </a:r>
          </a:p>
          <a:p>
            <a:pPr algn="l">
              <a:spcAft>
                <a:spcPts val="0"/>
              </a:spcAft>
              <a:defRPr sz="2300" b="1">
                <a:solidFill>
                  <a:srgbClr val="191919"/>
                </a:solidFill>
                <a:latin typeface="Calibri"/>
              </a:defRPr>
            </a:pPr>
            <a:r>
              <a:t>Podsumowanie projektu i perspektywy wdrożeniowe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691640"/>
            <a:ext cx="3840480" cy="4389120"/>
          </a:xfrm>
          <a:prstGeom prst="roundRect">
            <a:avLst/>
          </a:prstGeom>
          <a:solidFill>
            <a:srgbClr val="F8F9FA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200"/>
              </a:spcAft>
              <a:defRPr sz="1700" b="1">
                <a:solidFill>
                  <a:srgbClr val="990000"/>
                </a:solidFill>
                <a:latin typeface="Calibri"/>
              </a:defRPr>
            </a:pPr>
            <a:r>
              <a:t>Innowacja Naukowa</a:t>
            </a:r>
          </a:p>
          <a:p>
            <a:pPr algn="l">
              <a:spcAft>
                <a:spcPts val="600"/>
              </a:spcAft>
              <a:defRPr sz="1300" b="1">
                <a:solidFill>
                  <a:srgbClr val="191919"/>
                </a:solidFill>
                <a:latin typeface="Calibri"/>
              </a:defRPr>
            </a:pPr>
            <a:r>
              <a:t>Przełamanie barier RL: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505050"/>
                </a:solidFill>
                <a:latin typeface="Calibri"/>
              </a:defRPr>
            </a:pPr>
            <a:r>
              <a:t>• Skuteczna nawigacja w środowiskach o rzadkich nagrodach bez konieczności kosztownego reward engineeringu.</a:t>
            </a:r>
          </a:p>
          <a:p>
            <a:pPr algn="l">
              <a:spcAft>
                <a:spcPts val="600"/>
              </a:spcAft>
              <a:defRPr sz="1300" b="1">
                <a:solidFill>
                  <a:srgbClr val="191919"/>
                </a:solidFill>
                <a:latin typeface="Calibri"/>
              </a:defRPr>
            </a:pPr>
            <a:r>
              <a:t>Odporność na szum sensoryczny: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505050"/>
                </a:solidFill>
                <a:latin typeface="Calibri"/>
              </a:defRPr>
            </a:pPr>
            <a:r>
              <a:t>• Moduł ICM filtruje nieistotne fluktuacje otoczenia magazynowego.</a:t>
            </a:r>
          </a:p>
          <a:p>
            <a:pPr algn="l">
              <a:spcAft>
                <a:spcPts val="600"/>
              </a:spcAft>
              <a:defRPr sz="1300" b="1">
                <a:solidFill>
                  <a:srgbClr val="191919"/>
                </a:solidFill>
                <a:latin typeface="Calibri"/>
              </a:defRPr>
            </a:pPr>
            <a:r>
              <a:t>Wysoki potencjał publikacyjny: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505050"/>
                </a:solidFill>
                <a:latin typeface="Calibri"/>
              </a:defRPr>
            </a:pPr>
            <a:r>
              <a:t>• Tematyka Deep RL i ciekawości maszynowej to jeden z najszybciej rosnących trendów wg bazy SciVal.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0" y="1691640"/>
            <a:ext cx="3840480" cy="4389120"/>
          </a:xfrm>
          <a:prstGeom prst="roundRect">
            <a:avLst/>
          </a:prstGeom>
          <a:solidFill>
            <a:srgbClr val="F8F9FA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200"/>
              </a:spcAft>
              <a:defRPr sz="1700" b="1">
                <a:solidFill>
                  <a:srgbClr val="006633"/>
                </a:solidFill>
                <a:latin typeface="Calibri"/>
              </a:defRPr>
            </a:pPr>
            <a:r>
              <a:t>Wartość Przemysłowa</a:t>
            </a:r>
          </a:p>
          <a:p>
            <a:pPr algn="l">
              <a:spcAft>
                <a:spcPts val="600"/>
              </a:spcAft>
              <a:defRPr sz="1300" b="1">
                <a:solidFill>
                  <a:srgbClr val="191919"/>
                </a:solidFill>
                <a:latin typeface="Calibri"/>
              </a:defRPr>
            </a:pPr>
            <a:r>
              <a:t>Ekonomia wdrożenia Sim-to-Real: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505050"/>
                </a:solidFill>
                <a:latin typeface="Calibri"/>
              </a:defRPr>
            </a:pPr>
            <a:r>
              <a:t>• Drastyczne obniżenie kosztów integracji autonomicznych wózków dla sektora MŚP i Przemysłu 4.0.</a:t>
            </a:r>
          </a:p>
          <a:p>
            <a:pPr algn="l">
              <a:spcAft>
                <a:spcPts val="600"/>
              </a:spcAft>
              <a:defRPr sz="1300" b="1">
                <a:solidFill>
                  <a:srgbClr val="191919"/>
                </a:solidFill>
                <a:latin typeface="Calibri"/>
              </a:defRPr>
            </a:pPr>
            <a:r>
              <a:t>Bezpieczeństwo infrastruktury: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505050"/>
                </a:solidFill>
                <a:latin typeface="Calibri"/>
              </a:defRPr>
            </a:pPr>
            <a:r>
              <a:t>• Minimalizacja wskaźnika Jerk i eliminacja losowych zderzeń chroni pojazdy i linie produkcyjne.</a:t>
            </a:r>
          </a:p>
          <a:p>
            <a:pPr algn="l">
              <a:spcAft>
                <a:spcPts val="600"/>
              </a:spcAft>
              <a:defRPr sz="1300" b="1">
                <a:solidFill>
                  <a:srgbClr val="191919"/>
                </a:solidFill>
                <a:latin typeface="Calibri"/>
              </a:defRPr>
            </a:pPr>
            <a:r>
              <a:t>Kompaktowy Edge Computing: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505050"/>
                </a:solidFill>
                <a:latin typeface="Calibri"/>
              </a:defRPr>
            </a:pPr>
            <a:r>
              <a:t>• Pełna autonomia na pokładzie AGV bez konieczności stałego łącza z chmurą.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915400" y="1691640"/>
            <a:ext cx="3840480" cy="4389120"/>
          </a:xfrm>
          <a:prstGeom prst="roundRect">
            <a:avLst/>
          </a:prstGeom>
          <a:solidFill>
            <a:srgbClr val="F0F8F3"/>
          </a:solidFill>
          <a:ln w="1524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200"/>
              </a:spcAft>
              <a:defRPr sz="1700" b="1">
                <a:solidFill>
                  <a:srgbClr val="0D47A1"/>
                </a:solidFill>
                <a:latin typeface="Calibri"/>
              </a:defRPr>
            </a:pPr>
            <a:r>
              <a:t>Integracja i Rozwój AGH</a:t>
            </a:r>
          </a:p>
          <a:p>
            <a:pPr algn="l">
              <a:spcAft>
                <a:spcPts val="600"/>
              </a:spcAft>
              <a:defRPr sz="1300" b="1">
                <a:solidFill>
                  <a:srgbClr val="191919"/>
                </a:solidFill>
                <a:latin typeface="Calibri"/>
              </a:defRPr>
            </a:pPr>
            <a:r>
              <a:t>Synergia wydziałowa: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505050"/>
                </a:solidFill>
                <a:latin typeface="Calibri"/>
              </a:defRPr>
            </a:pPr>
            <a:r>
              <a:t>• Połączenie kompetencji WIMiR (Robotyka) oraz Wydziału Odlewnictwa (Przemysł 4.0) w ramach Priorytetowego Obszaru Badawczego POB 6.</a:t>
            </a:r>
          </a:p>
          <a:p>
            <a:pPr algn="l">
              <a:spcAft>
                <a:spcPts val="600"/>
              </a:spcAft>
              <a:defRPr sz="1300" b="1">
                <a:solidFill>
                  <a:srgbClr val="191919"/>
                </a:solidFill>
                <a:latin typeface="Calibri"/>
              </a:defRPr>
            </a:pPr>
            <a:r>
              <a:t>Rozwój Cyfrowego Bliźniaka: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505050"/>
                </a:solidFill>
                <a:latin typeface="Calibri"/>
              </a:defRPr>
            </a:pPr>
            <a:r>
              <a:t>• Praktyczne wykorzystanie platformy inżynierskiej do badań grantowych i edukacji przyszłych kadr inżynierskich AGH.</a:t>
            </a:r>
          </a:p>
          <a:p>
            <a:pPr algn="l">
              <a:spcAft>
                <a:spcPts val="600"/>
              </a:spcAft>
              <a:defRPr sz="1300" b="1">
                <a:solidFill>
                  <a:srgbClr val="191919"/>
                </a:solidFill>
                <a:latin typeface="Calibri"/>
              </a:defRPr>
            </a:pPr>
            <a:r>
              <a:t>Dziękujemy za uwagę!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505050"/>
                </a:solidFill>
                <a:latin typeface="Calibri"/>
              </a:defRPr>
            </a:pPr>
            <a:r>
              <a:t>• Zapraszamy do pytań i dyskusji.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ank Presentation - Default">
  <a:themeElements>
    <a:clrScheme name="Motyw pakietu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Motyw pakietu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otyw pakietu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Blank Presentation">
  <a:themeElements>
    <a:clrScheme name="Motyw pakietu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Motyw pakietu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otyw pakietu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Motyw pakietu Office">
  <a:themeElements>
    <a:clrScheme name="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00FF"/>
      </a:hlink>
      <a:folHlink>
        <a:srgbClr val="FF00FF"/>
      </a:folHlink>
    </a:clrScheme>
    <a:fontScheme name="Pakiet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akiet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Niestandardowy</PresentationFormat>
  <Slides>36</Slides>
  <Notes>25</Notes>
  <HiddenSlides>0</HiddenSlides>
  <ScaleCrop>false</ScaleCrop>
  <HeadingPairs>
    <vt:vector size="4" baseType="variant">
      <vt:variant>
        <vt:lpstr>Motyw</vt:lpstr>
      </vt:variant>
      <vt:variant>
        <vt:i4>2</vt:i4>
      </vt:variant>
      <vt:variant>
        <vt:lpstr>Tytuły slajdów</vt:lpstr>
      </vt:variant>
      <vt:variant>
        <vt:i4>36</vt:i4>
      </vt:variant>
    </vt:vector>
  </HeadingPairs>
  <TitlesOfParts>
    <vt:vector size="38" baseType="lpstr">
      <vt:lpstr>Blank Presentation - Default</vt:lpstr>
      <vt:lpstr>Blank Presentation</vt:lpstr>
      <vt:lpstr>Prezentacja programu PowerPoint</vt:lpstr>
      <vt:lpstr>1. Założenia Projektu</vt:lpstr>
      <vt:lpstr>2. Zasada Działania Sonarów </vt:lpstr>
      <vt:lpstr>2. Zasada Działania Sonarów </vt:lpstr>
      <vt:lpstr>3. Konstrukcja Sonaru</vt:lpstr>
      <vt:lpstr>3. Konstrukcja Sonaru</vt:lpstr>
      <vt:lpstr>3. Konstrukcja Sonaru</vt:lpstr>
      <vt:lpstr>3. Konstrukcja Sonaru</vt:lpstr>
      <vt:lpstr>3. Konstrukcja Sonaru</vt:lpstr>
      <vt:lpstr>3. Konstrukcja Sonaru</vt:lpstr>
      <vt:lpstr>3. Konstrukcja Sonaru</vt:lpstr>
      <vt:lpstr>3. Konstrukcja Sonaru</vt:lpstr>
      <vt:lpstr>4. Elektronika</vt:lpstr>
      <vt:lpstr>4. Elektronika</vt:lpstr>
      <vt:lpstr>4. Elektronika</vt:lpstr>
      <vt:lpstr>4. Elektronika</vt:lpstr>
      <vt:lpstr>4. Elektronika</vt:lpstr>
      <vt:lpstr>4. Elektronika</vt:lpstr>
      <vt:lpstr>4. Elektronika</vt:lpstr>
      <vt:lpstr>4. Elektronika</vt:lpstr>
      <vt:lpstr>4. Elektronika</vt:lpstr>
      <vt:lpstr>5. Akwizycja danych</vt:lpstr>
      <vt:lpstr>5. Akwizycja danych</vt:lpstr>
      <vt:lpstr>6. Analiza danych</vt:lpstr>
      <vt:lpstr>6. Analiza danych</vt:lpstr>
      <vt:lpstr>6. Analiza danych</vt:lpstr>
      <vt:lpstr>7. Złożenie urządzenia</vt:lpstr>
      <vt:lpstr>8. Testy</vt:lpstr>
      <vt:lpstr>8. Testy</vt:lpstr>
      <vt:lpstr>8. Testy</vt:lpstr>
      <vt:lpstr>8. Testy</vt:lpstr>
      <vt:lpstr>9. Plany i wyzwania na przyszłość</vt:lpstr>
      <vt:lpstr>Korzyści dla koła z realizacji projektu</vt:lpstr>
      <vt:lpstr>Podsumowanie finansowe grantu</vt:lpstr>
      <vt:lpstr>10. Bibliografia</vt:lpstr>
      <vt:lpstr>Dziękuję za uwagę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Maciek</dc:creator>
  <cp:lastModifiedBy>Patryk pięta</cp:lastModifiedBy>
  <cp:revision>2</cp:revision>
  <dcterms:modified xsi:type="dcterms:W3CDTF">2025-10-23T20:56:24Z</dcterms:modified>
</cp:coreProperties>
</file>